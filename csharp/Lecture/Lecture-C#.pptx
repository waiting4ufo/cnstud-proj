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D5437-913C-424D-B411-623574D71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FB213B7-0D87-42E2-BBF5-3343BEBD6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D41CBA-B43D-4BA3-BA0F-1EC36DE02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8285CC-9E6A-449D-80F6-A8D74ABBC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9BE034-C5A0-4A83-9479-927725F8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06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93292B-C184-4FB0-8FF3-2C0855673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CB992B-0137-479F-9CCE-23475E2DA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81631C-3830-48C9-B29D-B3A4B96B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BAB91E-1ED1-4D72-B96D-C9D827340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856E69-0F1D-4433-92C3-0B2B666B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95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A2AE7C-C94A-485D-8665-B74B7DFA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55B791-7C3E-4478-9BDF-B44CE9B3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0CB0E7-0E32-40D8-8853-B3AB7F5D8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D3891-2769-483D-B7AD-2D4FB0D7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09455E-6880-4EE3-AC36-E224E1B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19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E14792-292E-426D-9DBD-B43AE25C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CA88B1-0C74-494B-B9A9-A995C41B8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138B56-7B4D-4364-8BD9-F0BCBA99C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8F7DEC-462F-4667-82C8-C79E8621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EBCE9C-84C5-4AA8-B553-B560E26E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ACA987-DD6E-4B35-8AD5-2F572295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98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F08F1E-E1D1-47D7-B556-E1C0A7CCC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47C64B-9C86-41D6-A2E9-1B576F481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BA3B5F-8A7A-4669-A274-30AD17F62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9C57A24-965E-42AC-A6D2-7E9D00EFF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1B52F7F-6D9B-4EC9-BF34-0C761FBDF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69E57D-E0BC-4E9C-9618-0E9674E8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78A62D-94A4-4967-9282-71678174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D2898EF-C125-4453-8295-A516C83C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912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D79A7F-2F9C-4312-8C69-B104C6BA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1B086C3-5D56-4DDA-9B61-E2339B334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E108F2-A936-48C2-A5C9-CDBF69BE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20C7E2-81A5-4F90-A828-1C771D76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2164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F155D8F-2699-4F4A-A60F-944006C9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3065B7-D184-4753-BC74-FF7C09DC2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D40AF9-E35A-418D-9044-A6ED4D6E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4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A63331-F0EE-46A2-9C10-1086875CF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2BD2BC-F581-4BBE-ADDA-D2A4B0336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E0E752-3D93-4CBC-A01E-21C08FBC9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00B71F-46E9-47D2-9915-5832475C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0BF41F-5960-447C-8221-3A3DC9B5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3FCC08-589D-4C6B-813F-E8CE90D2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49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76C7A-FD6F-4030-86ED-5CA9AA34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A0997E3-BB84-44DF-B8F0-BF2E69C8B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947BFC-EDA9-4DB6-B13F-E361BCC3F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500EEC-FAC6-48A2-8659-BC46ECAC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6F3039-01F9-4417-81D2-B413B24C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B0938E-D9D1-4C23-8380-EF1B7E31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45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75411-883F-4906-9847-A9D84CB2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D89591-454F-4AA6-AEB7-24A5CA7DD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6DFB2D-EF7A-475F-9120-B5BC247B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493978-BA52-4F55-A5D2-4D45B489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6064A6-7F1D-44E3-91BC-3432B430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8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6789142-9AE8-4C3A-9BDD-9F50DFAB6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25D7EB-5156-4D63-908F-7989D21F7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0C88C9-F49E-46A9-ABD3-0B595B8A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F2EEBE-1C3B-4A25-A32C-DF1D7015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032104-D7D4-4D19-A395-8FEB7EBA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05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6D0271-6753-407D-B95A-A6FC4072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BB1FA9-88D7-44C3-ADF8-1F5AA51CF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D6A638-FFD9-450F-9EDF-7D1944CEC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658D7-74BE-4B31-94EE-B4CBB2BAF056}" type="datetimeFigureOut">
              <a:rPr kumimoji="1" lang="ja-JP" altLang="en-US" smtClean="0"/>
              <a:t>2019/8/3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507B33-5073-4102-8064-F33BA87EF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55BD9-8A7E-4A7A-9B44-0D760E95B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53687-8CDD-4DD1-ACCA-607B399BCCC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61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ja.wikipedia.org/wiki/C_Sharp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docs.microsoft.com/ja-jp/previous-versions/gg145045(v=vs.110)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hyperlink" Target="https://ufcpp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fcpp.net/study/cshar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D4D8D-01F1-43EC-AB8F-7DE6C770A0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C#</a:t>
            </a:r>
            <a:r>
              <a:rPr kumimoji="1" lang="ja-JP" altLang="en-US"/>
              <a:t>講座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F4DC03-5419-4185-853E-D10E28ECB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OGM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751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322886-C122-4386-B243-AEA87229378A}"/>
              </a:ext>
            </a:extLst>
          </p:cNvPr>
          <p:cNvSpPr txBox="1"/>
          <p:nvPr/>
        </p:nvSpPr>
        <p:spPr>
          <a:xfrm>
            <a:off x="815340" y="822960"/>
            <a:ext cx="1056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■</a:t>
            </a:r>
            <a:r>
              <a:rPr kumimoji="1" lang="en-US" altLang="ja-JP" sz="2800"/>
              <a:t>C#</a:t>
            </a:r>
            <a:r>
              <a:rPr kumimoji="1" lang="ja-JP" altLang="en-US" sz="2800"/>
              <a:t>とは</a:t>
            </a:r>
            <a:r>
              <a:rPr kumimoji="1" lang="en-US" altLang="ja-JP" sz="2800"/>
              <a:t>?</a:t>
            </a:r>
            <a:endParaRPr kumimoji="1" lang="ja-JP" altLang="en-US" sz="28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9CF5FC-92EB-4C89-A28F-9E14F272C3C5}"/>
              </a:ext>
            </a:extLst>
          </p:cNvPr>
          <p:cNvSpPr txBox="1"/>
          <p:nvPr/>
        </p:nvSpPr>
        <p:spPr>
          <a:xfrm>
            <a:off x="815340" y="1905506"/>
            <a:ext cx="110261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Microsoft</a:t>
            </a:r>
            <a:r>
              <a:rPr kumimoji="1" lang="ja-JP" altLang="en-US" sz="2400"/>
              <a:t>会社の</a:t>
            </a:r>
            <a:r>
              <a:rPr kumimoji="1" lang="en-US" altLang="ja-JP" sz="2400" b="1">
                <a:solidFill>
                  <a:srgbClr val="00B0F0"/>
                </a:solidFill>
              </a:rPr>
              <a:t>.Net Framework</a:t>
            </a:r>
            <a:r>
              <a:rPr kumimoji="1" lang="ja-JP" altLang="en-US" sz="2400" b="1">
                <a:solidFill>
                  <a:srgbClr val="00B0F0"/>
                </a:solidFill>
              </a:rPr>
              <a:t>の誕生と供に誕生した新しいプログラミング言語</a:t>
            </a:r>
            <a:r>
              <a:rPr kumimoji="1" lang="ja-JP" altLang="en-US" sz="2400"/>
              <a:t>。</a:t>
            </a:r>
            <a:endParaRPr kumimoji="1" lang="en-US" altLang="ja-JP" sz="2400"/>
          </a:p>
          <a:p>
            <a:endParaRPr lang="en-US" altLang="ja-JP" sz="2400"/>
          </a:p>
          <a:p>
            <a:r>
              <a:rPr kumimoji="1" lang="en-US" altLang="ja-JP" sz="2400"/>
              <a:t>.Net Framework</a:t>
            </a:r>
            <a:r>
              <a:rPr kumimoji="1" lang="ja-JP" altLang="en-US" sz="2400"/>
              <a:t>と一緒に進化している。</a:t>
            </a:r>
            <a:endParaRPr kumimoji="1" lang="en-US" altLang="ja-JP" sz="2400"/>
          </a:p>
          <a:p>
            <a:endParaRPr lang="en-US" altLang="ja-JP" sz="2400"/>
          </a:p>
          <a:p>
            <a:r>
              <a:rPr kumimoji="1" lang="en-US" altLang="ja-JP" sz="2400"/>
              <a:t>Ver  1.0 (2002.1)  -&gt;  7.3 (2018.5) -&gt; 8.0(VS2019)</a:t>
            </a:r>
          </a:p>
          <a:p>
            <a:endParaRPr lang="en-US" altLang="ja-JP" sz="2400"/>
          </a:p>
          <a:p>
            <a:r>
              <a:rPr kumimoji="1" lang="en-US" altLang="ja-JP" sz="2400"/>
              <a:t>(</a:t>
            </a:r>
            <a:r>
              <a:rPr lang="en-US" altLang="ja-JP" sz="2400">
                <a:hlinkClick r:id="rId2"/>
              </a:rPr>
              <a:t>https://ja.wikipedia.org/wiki/C_Sharp</a:t>
            </a:r>
            <a:r>
              <a:rPr kumimoji="1" lang="en-US" altLang="ja-JP" sz="2400"/>
              <a:t>)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93291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322886-C122-4386-B243-AEA87229378A}"/>
              </a:ext>
            </a:extLst>
          </p:cNvPr>
          <p:cNvSpPr txBox="1"/>
          <p:nvPr/>
        </p:nvSpPr>
        <p:spPr>
          <a:xfrm>
            <a:off x="815340" y="822960"/>
            <a:ext cx="1056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■</a:t>
            </a:r>
            <a:r>
              <a:rPr kumimoji="1" lang="en-US" altLang="ja-JP" sz="2800"/>
              <a:t>C#</a:t>
            </a:r>
            <a:r>
              <a:rPr kumimoji="1" lang="ja-JP" altLang="en-US" sz="2800"/>
              <a:t>で何ができるの？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9CF5FC-92EB-4C89-A28F-9E14F272C3C5}"/>
              </a:ext>
            </a:extLst>
          </p:cNvPr>
          <p:cNvSpPr txBox="1"/>
          <p:nvPr/>
        </p:nvSpPr>
        <p:spPr>
          <a:xfrm>
            <a:off x="815340" y="1905506"/>
            <a:ext cx="110261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/>
              <a:t>Windows</a:t>
            </a:r>
            <a:r>
              <a:rPr lang="ja-JP" altLang="en-US" sz="2400"/>
              <a:t>アプリ</a:t>
            </a:r>
            <a:endParaRPr lang="en-US" altLang="ja-JP" sz="2400"/>
          </a:p>
          <a:p>
            <a:r>
              <a:rPr lang="ja-JP" altLang="en-US" sz="2400"/>
              <a:t>　・</a:t>
            </a:r>
            <a:r>
              <a:rPr lang="en-US" altLang="ja-JP" sz="2400"/>
              <a:t>Windows Console(</a:t>
            </a:r>
            <a:r>
              <a:rPr lang="ja-JP" altLang="en-US" sz="2400"/>
              <a:t>コンソール）</a:t>
            </a:r>
            <a:endParaRPr lang="en-US" altLang="ja-JP" sz="2400"/>
          </a:p>
          <a:p>
            <a:r>
              <a:rPr lang="ja-JP" altLang="en-US" sz="2400"/>
              <a:t>　・</a:t>
            </a:r>
            <a:r>
              <a:rPr lang="en-US" altLang="ja-JP" sz="2400"/>
              <a:t>Windows Form</a:t>
            </a:r>
          </a:p>
          <a:p>
            <a:r>
              <a:rPr lang="ja-JP" altLang="en-US" sz="2400"/>
              <a:t>　・</a:t>
            </a:r>
            <a:r>
              <a:rPr lang="en-US" altLang="ja-JP" sz="2400"/>
              <a:t>WPF (SAML+C#)</a:t>
            </a:r>
          </a:p>
          <a:p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/>
              <a:t>ASP.net + C# : </a:t>
            </a:r>
            <a:r>
              <a:rPr lang="en-US" altLang="ja-JP" sz="2400"/>
              <a:t>Web</a:t>
            </a:r>
            <a:r>
              <a:rPr lang="ja-JP" altLang="en-US" sz="2400"/>
              <a:t>アプリ開発　</a:t>
            </a:r>
            <a:endParaRPr lang="en-US" altLang="ja-JP" sz="2400"/>
          </a:p>
          <a:p>
            <a:r>
              <a:rPr lang="ja-JP" altLang="en-US" sz="2400"/>
              <a:t>　</a:t>
            </a:r>
            <a:r>
              <a:rPr lang="ja-JP" altLang="en-US"/>
              <a:t>個人的には </a:t>
            </a:r>
            <a:r>
              <a:rPr lang="en-US" altLang="ja-JP" b="1">
                <a:highlight>
                  <a:srgbClr val="FFFF00"/>
                </a:highlight>
              </a:rPr>
              <a:t>JSP + Java</a:t>
            </a:r>
            <a:r>
              <a:rPr lang="ja-JP" altLang="en-US"/>
              <a:t>の</a:t>
            </a:r>
            <a:r>
              <a:rPr lang="en-US" altLang="ja-JP"/>
              <a:t>Web</a:t>
            </a:r>
            <a:r>
              <a:rPr lang="ja-JP" altLang="en-US"/>
              <a:t>アプリ開発のライバルだと意識している。</a:t>
            </a:r>
            <a:endParaRPr lang="en-US" altLang="ja-JP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/>
              <a:t>Unity + C# : </a:t>
            </a:r>
            <a:r>
              <a:rPr lang="ja-JP" altLang="en-US" sz="2400"/>
              <a:t>ゲーム開発</a:t>
            </a:r>
            <a:endParaRPr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ja-JP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/>
              <a:t>Xamarin + C# : iOS , Android</a:t>
            </a:r>
            <a:r>
              <a:rPr lang="ja-JP" altLang="en-US" sz="2400"/>
              <a:t>アプリ開発</a:t>
            </a:r>
            <a:endParaRPr kumimoji="1" lang="en-US" altLang="ja-JP" sz="240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04E9ECB-724C-4869-86E9-FC02C55A38A8}"/>
              </a:ext>
            </a:extLst>
          </p:cNvPr>
          <p:cNvSpPr/>
          <p:nvPr/>
        </p:nvSpPr>
        <p:spPr>
          <a:xfrm>
            <a:off x="605790" y="3677156"/>
            <a:ext cx="11026140" cy="1009144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en-US" altLang="ja-JP">
                <a:solidFill>
                  <a:srgbClr val="00B0F0"/>
                </a:solidFill>
              </a:rPr>
              <a:t>M</a:t>
            </a:r>
            <a:r>
              <a:rPr kumimoji="1" lang="ja-JP" altLang="en-US">
                <a:solidFill>
                  <a:srgbClr val="00B0F0"/>
                </a:solidFill>
              </a:rPr>
              <a:t>社とフロワー以外は</a:t>
            </a:r>
            <a:endParaRPr kumimoji="1" lang="en-US" altLang="ja-JP">
              <a:solidFill>
                <a:srgbClr val="00B0F0"/>
              </a:solidFill>
            </a:endParaRPr>
          </a:p>
          <a:p>
            <a:pPr algn="r"/>
            <a:r>
              <a:rPr kumimoji="1" lang="ja-JP" altLang="en-US">
                <a:solidFill>
                  <a:srgbClr val="00B0F0"/>
                </a:solidFill>
              </a:rPr>
              <a:t>あんまり</a:t>
            </a:r>
            <a:r>
              <a:rPr lang="ja-JP" altLang="en-US">
                <a:solidFill>
                  <a:srgbClr val="00B0F0"/>
                </a:solidFill>
              </a:rPr>
              <a:t>広がっていない</a:t>
            </a:r>
            <a:endParaRPr kumimoji="1" lang="en-US" altLang="ja-JP">
              <a:solidFill>
                <a:srgbClr val="00B0F0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D5EE33C-06B2-4EE0-B8B1-5ECD3CAFB4EA}"/>
              </a:ext>
            </a:extLst>
          </p:cNvPr>
          <p:cNvSpPr/>
          <p:nvPr/>
        </p:nvSpPr>
        <p:spPr>
          <a:xfrm>
            <a:off x="582930" y="4741054"/>
            <a:ext cx="11049000" cy="681551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>
                <a:solidFill>
                  <a:srgbClr val="00B0F0"/>
                </a:solidFill>
              </a:rPr>
              <a:t>ゲーム開発で有名</a:t>
            </a:r>
            <a:endParaRPr kumimoji="1" lang="en-US" altLang="ja-JP">
              <a:solidFill>
                <a:srgbClr val="00B0F0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950660F-5971-44E5-BC3F-FA7C3413F8A4}"/>
              </a:ext>
            </a:extLst>
          </p:cNvPr>
          <p:cNvSpPr/>
          <p:nvPr/>
        </p:nvSpPr>
        <p:spPr>
          <a:xfrm>
            <a:off x="571500" y="5477359"/>
            <a:ext cx="11049000" cy="1142457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>
                <a:solidFill>
                  <a:srgbClr val="00B0F0"/>
                </a:solidFill>
              </a:rPr>
              <a:t>どうかな？</a:t>
            </a:r>
            <a:endParaRPr kumimoji="1" lang="en-US" altLang="ja-JP">
              <a:solidFill>
                <a:srgbClr val="00B0F0"/>
              </a:solidFill>
            </a:endParaRPr>
          </a:p>
          <a:p>
            <a:pPr algn="r"/>
            <a:r>
              <a:rPr lang="en-US" altLang="ja-JP">
                <a:solidFill>
                  <a:srgbClr val="00B0F0"/>
                </a:solidFill>
              </a:rPr>
              <a:t>iOS: objective-C / swift</a:t>
            </a:r>
          </a:p>
          <a:p>
            <a:pPr algn="r"/>
            <a:r>
              <a:rPr kumimoji="1" lang="en-US" altLang="ja-JP">
                <a:solidFill>
                  <a:srgbClr val="00B0F0"/>
                </a:solidFill>
              </a:rPr>
              <a:t>Android: java / Kortlin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7724547-CD59-4780-9D78-2C36391CB1F6}"/>
              </a:ext>
            </a:extLst>
          </p:cNvPr>
          <p:cNvSpPr/>
          <p:nvPr/>
        </p:nvSpPr>
        <p:spPr>
          <a:xfrm>
            <a:off x="571500" y="3020623"/>
            <a:ext cx="11026140" cy="523220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>
                <a:solidFill>
                  <a:srgbClr val="00B0F0"/>
                </a:solidFill>
              </a:rPr>
              <a:t>あんまり流行ってない</a:t>
            </a:r>
            <a:r>
              <a:rPr kumimoji="1" lang="en-US" altLang="ja-JP">
                <a:solidFill>
                  <a:srgbClr val="00B0F0"/>
                </a:solidFill>
              </a:rPr>
              <a:t>…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9850DD1-9B6C-4F8C-B7AF-7271ED9A0859}"/>
              </a:ext>
            </a:extLst>
          </p:cNvPr>
          <p:cNvSpPr/>
          <p:nvPr/>
        </p:nvSpPr>
        <p:spPr>
          <a:xfrm>
            <a:off x="605790" y="2296633"/>
            <a:ext cx="10991850" cy="669235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kumimoji="1" lang="ja-JP" altLang="en-US" b="1">
                <a:solidFill>
                  <a:srgbClr val="00B0F0"/>
                </a:solidFill>
              </a:rPr>
              <a:t>個人的には好き！</a:t>
            </a:r>
            <a:endParaRPr kumimoji="1" lang="en-US" altLang="ja-JP" b="1">
              <a:solidFill>
                <a:srgbClr val="00B0F0"/>
              </a:solidFill>
            </a:endParaRPr>
          </a:p>
          <a:p>
            <a:pPr algn="r"/>
            <a:r>
              <a:rPr lang="ja-JP" altLang="en-US" b="1">
                <a:solidFill>
                  <a:srgbClr val="00B0F0"/>
                </a:solidFill>
              </a:rPr>
              <a:t>仕事もあるある！！</a:t>
            </a:r>
            <a:endParaRPr kumimoji="1" lang="en-US" altLang="ja-JP" b="1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53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322886-C122-4386-B243-AEA87229378A}"/>
              </a:ext>
            </a:extLst>
          </p:cNvPr>
          <p:cNvSpPr txBox="1"/>
          <p:nvPr/>
        </p:nvSpPr>
        <p:spPr>
          <a:xfrm>
            <a:off x="815340" y="403236"/>
            <a:ext cx="1056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■</a:t>
            </a:r>
            <a:r>
              <a:rPr kumimoji="1" lang="en-US" altLang="ja-JP" sz="2800"/>
              <a:t>Windows</a:t>
            </a:r>
            <a:r>
              <a:rPr kumimoji="1" lang="ja-JP" altLang="en-US" sz="2800"/>
              <a:t>アプリとは</a:t>
            </a:r>
            <a:r>
              <a:rPr kumimoji="1" lang="en-US" altLang="ja-JP" sz="2800"/>
              <a:t>?</a:t>
            </a:r>
            <a:endParaRPr kumimoji="1" lang="ja-JP" altLang="en-US" sz="28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9CF5FC-92EB-4C89-A28F-9E14F272C3C5}"/>
              </a:ext>
            </a:extLst>
          </p:cNvPr>
          <p:cNvSpPr txBox="1"/>
          <p:nvPr/>
        </p:nvSpPr>
        <p:spPr>
          <a:xfrm>
            <a:off x="815340" y="1043819"/>
            <a:ext cx="11026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>
                <a:solidFill>
                  <a:srgbClr val="00B0F0"/>
                </a:solidFill>
              </a:rPr>
              <a:t>Windows</a:t>
            </a:r>
            <a:r>
              <a:rPr kumimoji="1" lang="ja-JP" altLang="en-US" sz="2400" b="1">
                <a:solidFill>
                  <a:srgbClr val="00B0F0"/>
                </a:solidFill>
              </a:rPr>
              <a:t>システム上で動くアプリケーション</a:t>
            </a:r>
            <a:r>
              <a:rPr kumimoji="1" lang="ja-JP" altLang="en-US" sz="2400"/>
              <a:t>のこと。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67978E-8B9D-4479-BF2D-4BBB50FFD8FD}"/>
              </a:ext>
            </a:extLst>
          </p:cNvPr>
          <p:cNvSpPr txBox="1"/>
          <p:nvPr/>
        </p:nvSpPr>
        <p:spPr>
          <a:xfrm>
            <a:off x="815340" y="1829333"/>
            <a:ext cx="10678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/>
              <a:t>主なオペレーティングシステム</a:t>
            </a:r>
            <a:r>
              <a:rPr kumimoji="1" lang="en-US" altLang="ja-JP" sz="2400" b="1"/>
              <a:t>(Operating System, OS)</a:t>
            </a:r>
          </a:p>
          <a:p>
            <a:endParaRPr lang="en-US" altLang="ja-JP" sz="2400" b="1"/>
          </a:p>
          <a:p>
            <a:endParaRPr kumimoji="1" lang="ja-JP" altLang="en-US" sz="2400"/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E8F64E18-06EB-4D3A-8178-007BD3E1B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355987"/>
              </p:ext>
            </p:extLst>
          </p:nvPr>
        </p:nvGraphicFramePr>
        <p:xfrm>
          <a:off x="815340" y="2321082"/>
          <a:ext cx="10561320" cy="4133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254">
                  <a:extLst>
                    <a:ext uri="{9D8B030D-6E8A-4147-A177-3AD203B41FA5}">
                      <a16:colId xmlns:a16="http://schemas.microsoft.com/office/drawing/2014/main" val="2252455527"/>
                    </a:ext>
                  </a:extLst>
                </a:gridCol>
                <a:gridCol w="2119141">
                  <a:extLst>
                    <a:ext uri="{9D8B030D-6E8A-4147-A177-3AD203B41FA5}">
                      <a16:colId xmlns:a16="http://schemas.microsoft.com/office/drawing/2014/main" val="1981802903"/>
                    </a:ext>
                  </a:extLst>
                </a:gridCol>
                <a:gridCol w="6825925">
                  <a:extLst>
                    <a:ext uri="{9D8B030D-6E8A-4147-A177-3AD203B41FA5}">
                      <a16:colId xmlns:a16="http://schemas.microsoft.com/office/drawing/2014/main" val="1056893086"/>
                    </a:ext>
                  </a:extLst>
                </a:gridCol>
              </a:tblGrid>
              <a:tr h="590526">
                <a:tc>
                  <a:txBody>
                    <a:bodyPr/>
                    <a:lstStyle/>
                    <a:p>
                      <a:r>
                        <a:rPr kumimoji="1" lang="ja-JP" altLang="en-US"/>
                        <a:t>会社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OS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991209"/>
                  </a:ext>
                </a:extLst>
              </a:tr>
              <a:tr h="590526">
                <a:tc>
                  <a:txBody>
                    <a:bodyPr/>
                    <a:lstStyle/>
                    <a:p>
                      <a:r>
                        <a:rPr kumimoji="1" lang="en-US" altLang="ja-JP"/>
                        <a:t>Microsoft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>
                          <a:solidFill>
                            <a:srgbClr val="FF0000"/>
                          </a:solidFill>
                        </a:rPr>
                        <a:t>windows</a:t>
                      </a:r>
                      <a:endParaRPr kumimoji="1" lang="ja-JP" altLang="en-US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winXP -&gt; vista -&gt; win7 -&gt; win8 -&gt; win10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816101"/>
                  </a:ext>
                </a:extLst>
              </a:tr>
              <a:tr h="590526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Windows phone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Microsoft</a:t>
                      </a:r>
                      <a:r>
                        <a:rPr kumimoji="1" lang="ja-JP" altLang="en-US"/>
                        <a:t>社製スマートフォンに搭載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504913"/>
                  </a:ext>
                </a:extLst>
              </a:tr>
              <a:tr h="590526">
                <a:tc>
                  <a:txBody>
                    <a:bodyPr/>
                    <a:lstStyle/>
                    <a:p>
                      <a:r>
                        <a:rPr kumimoji="1" lang="en-US" altLang="ja-JP"/>
                        <a:t>Apple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Macintosh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マッキントッシュ。</a:t>
                      </a:r>
                      <a:r>
                        <a:rPr kumimoji="1" lang="en-US" altLang="ja-JP"/>
                        <a:t>Apple</a:t>
                      </a:r>
                      <a:r>
                        <a:rPr kumimoji="1" lang="ja-JP" altLang="en-US"/>
                        <a:t>製</a:t>
                      </a:r>
                      <a:r>
                        <a:rPr kumimoji="1" lang="en-US" altLang="ja-JP"/>
                        <a:t>PC</a:t>
                      </a:r>
                      <a:r>
                        <a:rPr kumimoji="1" lang="ja-JP" altLang="en-US"/>
                        <a:t>（</a:t>
                      </a:r>
                      <a:r>
                        <a:rPr kumimoji="1" lang="en-US" altLang="ja-JP"/>
                        <a:t>Mac)</a:t>
                      </a:r>
                      <a:r>
                        <a:rPr kumimoji="1" lang="ja-JP" altLang="en-US"/>
                        <a:t>に搭載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422545"/>
                  </a:ext>
                </a:extLst>
              </a:tr>
              <a:tr h="590526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iOS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Apple</a:t>
                      </a:r>
                      <a:r>
                        <a:rPr kumimoji="1" lang="ja-JP" altLang="en-US"/>
                        <a:t>製スマートフォン（</a:t>
                      </a:r>
                      <a:r>
                        <a:rPr kumimoji="1" lang="en-US" altLang="ja-JP"/>
                        <a:t>iPhone)</a:t>
                      </a:r>
                      <a:r>
                        <a:rPr kumimoji="1" lang="ja-JP" altLang="en-US"/>
                        <a:t>に搭載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702113"/>
                  </a:ext>
                </a:extLst>
              </a:tr>
              <a:tr h="590526">
                <a:tc>
                  <a:txBody>
                    <a:bodyPr/>
                    <a:lstStyle/>
                    <a:p>
                      <a:r>
                        <a:rPr kumimoji="1" lang="en-US" altLang="ja-JP"/>
                        <a:t>Google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Android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Android</a:t>
                      </a:r>
                      <a:r>
                        <a:rPr kumimoji="1" lang="ja-JP" altLang="en-US"/>
                        <a:t>スマートフォンに搭載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245419"/>
                  </a:ext>
                </a:extLst>
              </a:tr>
              <a:tr h="590526">
                <a:tc>
                  <a:txBody>
                    <a:bodyPr/>
                    <a:lstStyle/>
                    <a:p>
                      <a:r>
                        <a:rPr kumimoji="1" lang="en-US" altLang="ja-JP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Unix / Linux </a:t>
                      </a:r>
                      <a:r>
                        <a:rPr kumimoji="1" lang="ja-JP" altLang="en-US"/>
                        <a:t>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汎用機等に搭載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98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596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322886-C122-4386-B243-AEA87229378A}"/>
              </a:ext>
            </a:extLst>
          </p:cNvPr>
          <p:cNvSpPr txBox="1"/>
          <p:nvPr/>
        </p:nvSpPr>
        <p:spPr>
          <a:xfrm>
            <a:off x="815340" y="403236"/>
            <a:ext cx="1056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■</a:t>
            </a:r>
            <a:r>
              <a:rPr kumimoji="1" lang="en-US" altLang="ja-JP" sz="2800"/>
              <a:t>Windows</a:t>
            </a:r>
            <a:r>
              <a:rPr kumimoji="1" lang="ja-JP" altLang="en-US" sz="2800"/>
              <a:t>アプリのイメージ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3E94C73-7257-4282-8CC7-FA30B765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74" y="1139108"/>
            <a:ext cx="4677550" cy="238203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EEDC851-7580-48EF-8A60-E469B49AD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39" y="3034709"/>
            <a:ext cx="7692117" cy="321723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D1317FD-4DA9-489A-8E0D-483132593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889" y="1139108"/>
            <a:ext cx="6238763" cy="323968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A341A1-4C96-4E43-9373-A111DDD618FE}"/>
              </a:ext>
            </a:extLst>
          </p:cNvPr>
          <p:cNvSpPr txBox="1"/>
          <p:nvPr/>
        </p:nvSpPr>
        <p:spPr>
          <a:xfrm>
            <a:off x="1998921" y="2126512"/>
            <a:ext cx="5231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>
                <a:solidFill>
                  <a:schemeClr val="accent5">
                    <a:lumMod val="20000"/>
                    <a:lumOff val="80000"/>
                  </a:schemeClr>
                </a:solidFill>
              </a:rPr>
              <a:t>winMerge</a:t>
            </a:r>
          </a:p>
          <a:p>
            <a:endParaRPr lang="en-US" altLang="ja-JP" b="1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kumimoji="1" lang="en-US" altLang="ja-JP" b="1">
                <a:solidFill>
                  <a:schemeClr val="accent5">
                    <a:lumMod val="20000"/>
                    <a:lumOff val="80000"/>
                  </a:schemeClr>
                </a:solidFill>
              </a:rPr>
              <a:t>                                                                Chrome</a:t>
            </a:r>
          </a:p>
          <a:p>
            <a:endParaRPr lang="en-US" altLang="ja-JP" b="1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endParaRPr kumimoji="1" lang="en-US" altLang="ja-JP" b="1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endParaRPr lang="en-US" altLang="ja-JP" b="1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endParaRPr kumimoji="1" lang="en-US" altLang="ja-JP" b="1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r>
              <a:rPr lang="en-US" altLang="ja-JP" b="1">
                <a:solidFill>
                  <a:schemeClr val="accent5">
                    <a:lumMod val="20000"/>
                    <a:lumOff val="80000"/>
                  </a:schemeClr>
                </a:solidFill>
              </a:rPr>
              <a:t>VS Code</a:t>
            </a:r>
            <a:endParaRPr kumimoji="1" lang="ja-JP" altLang="en-US" b="1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575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0322886-C122-4386-B243-AEA87229378A}"/>
              </a:ext>
            </a:extLst>
          </p:cNvPr>
          <p:cNvSpPr txBox="1"/>
          <p:nvPr/>
        </p:nvSpPr>
        <p:spPr>
          <a:xfrm>
            <a:off x="815340" y="403236"/>
            <a:ext cx="10561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■</a:t>
            </a:r>
            <a:r>
              <a:rPr kumimoji="1" lang="en-US" altLang="ja-JP" sz="2800"/>
              <a:t>Windows</a:t>
            </a:r>
            <a:r>
              <a:rPr kumimoji="1" lang="ja-JP" altLang="en-US" sz="2800"/>
              <a:t>アプリの特徴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B6F794-6475-4325-8B32-151F3F52E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092053"/>
            <a:ext cx="11296650" cy="5524500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C0055466-813A-49AD-986D-F9E130FEB265}"/>
              </a:ext>
            </a:extLst>
          </p:cNvPr>
          <p:cNvSpPr/>
          <p:nvPr/>
        </p:nvSpPr>
        <p:spPr>
          <a:xfrm>
            <a:off x="9027042" y="571611"/>
            <a:ext cx="1775637" cy="340242"/>
          </a:xfrm>
          <a:prstGeom prst="wedgeRoundRectCallout">
            <a:avLst>
              <a:gd name="adj1" fmla="val 30472"/>
              <a:gd name="adj2" fmla="val 9985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/>
              <a:t>Control</a:t>
            </a:r>
            <a:r>
              <a:rPr kumimoji="1" lang="ja-JP" altLang="en-US" sz="1400"/>
              <a:t>ボックス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98B6FED-4029-4CB9-B749-98C35629E93E}"/>
              </a:ext>
            </a:extLst>
          </p:cNvPr>
          <p:cNvSpPr/>
          <p:nvPr/>
        </p:nvSpPr>
        <p:spPr>
          <a:xfrm>
            <a:off x="10409274" y="1092053"/>
            <a:ext cx="1335051" cy="300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FB0BD4C-8E40-47CF-BE1A-39839DECD2FD}"/>
              </a:ext>
            </a:extLst>
          </p:cNvPr>
          <p:cNvSpPr/>
          <p:nvPr/>
        </p:nvSpPr>
        <p:spPr>
          <a:xfrm>
            <a:off x="279991" y="941647"/>
            <a:ext cx="1335051" cy="3767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8737AD6-9A20-41E6-B957-8A402718B8A8}"/>
              </a:ext>
            </a:extLst>
          </p:cNvPr>
          <p:cNvSpPr/>
          <p:nvPr/>
        </p:nvSpPr>
        <p:spPr>
          <a:xfrm>
            <a:off x="432391" y="1361411"/>
            <a:ext cx="4320362" cy="222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E1415DF-E315-4CF5-9F76-1541EDFCB9A6}"/>
              </a:ext>
            </a:extLst>
          </p:cNvPr>
          <p:cNvSpPr/>
          <p:nvPr/>
        </p:nvSpPr>
        <p:spPr>
          <a:xfrm>
            <a:off x="279991" y="1599442"/>
            <a:ext cx="5387162" cy="254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52654B5-BE6D-45E9-8A70-33A006316AD9}"/>
              </a:ext>
            </a:extLst>
          </p:cNvPr>
          <p:cNvSpPr/>
          <p:nvPr/>
        </p:nvSpPr>
        <p:spPr>
          <a:xfrm>
            <a:off x="427739" y="6323336"/>
            <a:ext cx="11416931" cy="3084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CE2C6C32-385E-4BBD-898B-93145A6D190F}"/>
              </a:ext>
            </a:extLst>
          </p:cNvPr>
          <p:cNvSpPr/>
          <p:nvPr/>
        </p:nvSpPr>
        <p:spPr>
          <a:xfrm>
            <a:off x="5000846" y="586214"/>
            <a:ext cx="3016103" cy="340242"/>
          </a:xfrm>
          <a:prstGeom prst="wedgeRoundRectCallout">
            <a:avLst>
              <a:gd name="adj1" fmla="val -171468"/>
              <a:gd name="adj2" fmla="val 140481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システムアイコン、タイトル</a:t>
            </a: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9CD18EDF-4CEE-4855-9D98-0F3765DD5AAE}"/>
              </a:ext>
            </a:extLst>
          </p:cNvPr>
          <p:cNvSpPr/>
          <p:nvPr/>
        </p:nvSpPr>
        <p:spPr>
          <a:xfrm>
            <a:off x="6693195" y="978195"/>
            <a:ext cx="1775637" cy="340242"/>
          </a:xfrm>
          <a:prstGeom prst="wedgeRoundRectCallout">
            <a:avLst>
              <a:gd name="adj1" fmla="val -155756"/>
              <a:gd name="adj2" fmla="val 7485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/>
              <a:t>Menu</a:t>
            </a:r>
            <a:r>
              <a:rPr kumimoji="1" lang="ja-JP" altLang="en-US" sz="1400"/>
              <a:t> </a:t>
            </a:r>
            <a:r>
              <a:rPr kumimoji="1" lang="en-US" altLang="ja-JP" sz="1400"/>
              <a:t>bar</a:t>
            </a:r>
            <a:endParaRPr kumimoji="1" lang="ja-JP" altLang="en-US" sz="1400"/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343CC860-77AC-4986-9A50-5E394C2D3EFE}"/>
              </a:ext>
            </a:extLst>
          </p:cNvPr>
          <p:cNvSpPr/>
          <p:nvPr/>
        </p:nvSpPr>
        <p:spPr>
          <a:xfrm>
            <a:off x="3864934" y="2326092"/>
            <a:ext cx="1775637" cy="340242"/>
          </a:xfrm>
          <a:prstGeom prst="wedgeRoundRectCallout">
            <a:avLst>
              <a:gd name="adj1" fmla="val -23420"/>
              <a:gd name="adj2" fmla="val -19701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/>
              <a:t>Tool</a:t>
            </a:r>
            <a:r>
              <a:rPr kumimoji="1" lang="ja-JP" altLang="en-US" sz="1400"/>
              <a:t> </a:t>
            </a:r>
            <a:r>
              <a:rPr kumimoji="1" lang="en-US" altLang="ja-JP" sz="1400"/>
              <a:t>bar</a:t>
            </a:r>
            <a:endParaRPr kumimoji="1" lang="ja-JP" altLang="en-US" sz="1400"/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FCAFD003-DE4C-405B-8D2C-8B73A6E8C345}"/>
              </a:ext>
            </a:extLst>
          </p:cNvPr>
          <p:cNvSpPr/>
          <p:nvPr/>
        </p:nvSpPr>
        <p:spPr>
          <a:xfrm>
            <a:off x="1213883" y="5494042"/>
            <a:ext cx="1775637" cy="340242"/>
          </a:xfrm>
          <a:prstGeom prst="wedgeRoundRectCallout">
            <a:avLst>
              <a:gd name="adj1" fmla="val -38989"/>
              <a:gd name="adj2" fmla="val 224856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/>
              <a:t>Status bar</a:t>
            </a:r>
            <a:endParaRPr kumimoji="1" lang="ja-JP" altLang="en-US" sz="14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7337EA3-924C-4EDC-8F49-A90265410587}"/>
              </a:ext>
            </a:extLst>
          </p:cNvPr>
          <p:cNvSpPr/>
          <p:nvPr/>
        </p:nvSpPr>
        <p:spPr>
          <a:xfrm>
            <a:off x="3583172" y="3429000"/>
            <a:ext cx="4178595" cy="14619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クライアント領域</a:t>
            </a:r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B5E552F-0D5A-4373-B3A6-7EC14404E241}"/>
              </a:ext>
            </a:extLst>
          </p:cNvPr>
          <p:cNvSpPr/>
          <p:nvPr/>
        </p:nvSpPr>
        <p:spPr>
          <a:xfrm>
            <a:off x="1615042" y="3115340"/>
            <a:ext cx="8953721" cy="226624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このような</a:t>
            </a:r>
            <a:r>
              <a:rPr kumimoji="1" lang="en-US" altLang="ja-JP"/>
              <a:t>Windows</a:t>
            </a:r>
            <a:r>
              <a:rPr kumimoji="1" lang="ja-JP" altLang="en-US"/>
              <a:t>アプリを、</a:t>
            </a:r>
            <a:endParaRPr kumimoji="1" lang="en-US" altLang="ja-JP"/>
          </a:p>
          <a:p>
            <a:pPr algn="ctr"/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</a:rPr>
              <a:t>Windows Form</a:t>
            </a:r>
            <a:r>
              <a:rPr kumimoji="1" lang="ja-JP" altLang="en-US" b="1">
                <a:solidFill>
                  <a:schemeClr val="accent1">
                    <a:lumMod val="75000"/>
                  </a:schemeClr>
                </a:solidFill>
              </a:rPr>
              <a:t>方式のアプリ</a:t>
            </a:r>
            <a:r>
              <a:rPr kumimoji="1" lang="ja-JP" altLang="en-US"/>
              <a:t>と呼ぶ。</a:t>
            </a:r>
            <a:endParaRPr kumimoji="1" lang="en-US" altLang="ja-JP"/>
          </a:p>
          <a:p>
            <a:pPr algn="ctr"/>
            <a:endParaRPr lang="en-US" altLang="ja-JP"/>
          </a:p>
          <a:p>
            <a:pPr algn="ctr"/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</a:rPr>
              <a:t>Visual Studio 2019</a:t>
            </a:r>
            <a:r>
              <a:rPr lang="ja-JP" altLang="en-US"/>
              <a:t>を使って</a:t>
            </a:r>
            <a:r>
              <a:rPr kumimoji="1" lang="ja-JP" altLang="en-US"/>
              <a:t>、</a:t>
            </a:r>
            <a:r>
              <a:rPr kumimoji="1" lang="en-US" altLang="ja-JP"/>
              <a:t>C#</a:t>
            </a:r>
            <a:r>
              <a:rPr kumimoji="1" lang="ja-JP" altLang="en-US"/>
              <a:t>で開発することができる。</a:t>
            </a:r>
          </a:p>
        </p:txBody>
      </p:sp>
    </p:spTree>
    <p:extLst>
      <p:ext uri="{BB962C8B-B14F-4D97-AF65-F5344CB8AC3E}">
        <p14:creationId xmlns:p14="http://schemas.microsoft.com/office/powerpoint/2010/main" val="229619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9CF5FC-92EB-4C89-A28F-9E14F272C3C5}"/>
              </a:ext>
            </a:extLst>
          </p:cNvPr>
          <p:cNvSpPr txBox="1"/>
          <p:nvPr/>
        </p:nvSpPr>
        <p:spPr>
          <a:xfrm>
            <a:off x="582930" y="920621"/>
            <a:ext cx="110261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/>
              <a:t>ということで、本講座では</a:t>
            </a:r>
            <a:endParaRPr lang="en-US" altLang="ja-JP" sz="3200"/>
          </a:p>
          <a:p>
            <a:endParaRPr kumimoji="1" lang="en-US" altLang="ja-JP" sz="3200"/>
          </a:p>
          <a:p>
            <a:r>
              <a:rPr lang="en-US" altLang="ja-JP" sz="3200" b="1">
                <a:solidFill>
                  <a:schemeClr val="accent1">
                    <a:lumMod val="75000"/>
                  </a:schemeClr>
                </a:solidFill>
              </a:rPr>
              <a:t>C#</a:t>
            </a:r>
            <a:r>
              <a:rPr lang="ja-JP" altLang="en-US" sz="3200"/>
              <a:t>とゆプログラミング言語</a:t>
            </a:r>
            <a:endParaRPr lang="en-US" altLang="ja-JP" sz="3200"/>
          </a:p>
          <a:p>
            <a:r>
              <a:rPr kumimoji="1" lang="ja-JP" altLang="en-US" sz="3200"/>
              <a:t>で</a:t>
            </a:r>
            <a:endParaRPr kumimoji="1" lang="en-US" altLang="ja-JP" sz="3200"/>
          </a:p>
          <a:p>
            <a:r>
              <a:rPr lang="en-US" altLang="ja-JP" sz="3200" b="1">
                <a:solidFill>
                  <a:schemeClr val="accent1">
                    <a:lumMod val="75000"/>
                  </a:schemeClr>
                </a:solidFill>
              </a:rPr>
              <a:t>Visual Studio 2019</a:t>
            </a:r>
            <a:r>
              <a:rPr lang="ja-JP" altLang="en-US" sz="3200"/>
              <a:t>とゆ</a:t>
            </a:r>
            <a:r>
              <a:rPr lang="en-US" altLang="ja-JP" sz="3200" b="1"/>
              <a:t>IDE</a:t>
            </a:r>
          </a:p>
          <a:p>
            <a:r>
              <a:rPr kumimoji="1" lang="ja-JP" altLang="en-US" sz="3200"/>
              <a:t>を使って</a:t>
            </a:r>
            <a:endParaRPr kumimoji="1" lang="en-US" altLang="ja-JP" sz="3200"/>
          </a:p>
          <a:p>
            <a:r>
              <a:rPr lang="en-US" altLang="ja-JP" sz="3200" b="1">
                <a:solidFill>
                  <a:schemeClr val="accent1">
                    <a:lumMod val="75000"/>
                  </a:schemeClr>
                </a:solidFill>
              </a:rPr>
              <a:t>Windows Form</a:t>
            </a:r>
            <a:r>
              <a:rPr lang="ja-JP" altLang="en-US" sz="3200" b="1">
                <a:solidFill>
                  <a:schemeClr val="accent1">
                    <a:lumMod val="75000"/>
                  </a:schemeClr>
                </a:solidFill>
              </a:rPr>
              <a:t>方式</a:t>
            </a:r>
            <a:endParaRPr lang="en-US" altLang="ja-JP" sz="32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ja-JP" altLang="en-US" sz="3200"/>
              <a:t>の</a:t>
            </a:r>
            <a:endParaRPr kumimoji="1" lang="en-US" altLang="ja-JP" sz="3200"/>
          </a:p>
          <a:p>
            <a:r>
              <a:rPr lang="en-US" altLang="ja-JP" sz="3200" b="1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ja-JP" altLang="en-US" sz="3200" b="1">
                <a:solidFill>
                  <a:schemeClr val="accent1">
                    <a:lumMod val="75000"/>
                  </a:schemeClr>
                </a:solidFill>
              </a:rPr>
              <a:t>アプリケーション</a:t>
            </a:r>
            <a:r>
              <a:rPr lang="ja-JP" altLang="en-US" sz="3200"/>
              <a:t>開発方法</a:t>
            </a:r>
            <a:endParaRPr lang="en-US" altLang="ja-JP" sz="3200"/>
          </a:p>
          <a:p>
            <a:r>
              <a:rPr kumimoji="1" lang="ja-JP" altLang="en-US" sz="3200"/>
              <a:t>を解説していきます。</a:t>
            </a:r>
            <a:endParaRPr kumimoji="1" lang="en-US" altLang="ja-JP" sz="3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940819-2785-4676-9F10-91DE06F7716C}"/>
              </a:ext>
            </a:extLst>
          </p:cNvPr>
          <p:cNvSpPr txBox="1"/>
          <p:nvPr/>
        </p:nvSpPr>
        <p:spPr>
          <a:xfrm>
            <a:off x="6826103" y="1977656"/>
            <a:ext cx="46378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因みに</a:t>
            </a:r>
            <a:endParaRPr kumimoji="1" lang="en-US" altLang="ja-JP"/>
          </a:p>
          <a:p>
            <a:r>
              <a:rPr kumimoji="1" lang="en-US" altLang="ja-JP"/>
              <a:t>Java</a:t>
            </a:r>
            <a:r>
              <a:rPr kumimoji="1" lang="ja-JP" altLang="en-US"/>
              <a:t>でも、</a:t>
            </a:r>
            <a:r>
              <a:rPr kumimoji="1" lang="en-US" altLang="ja-JP"/>
              <a:t>AWT(Abstract Window Toolkit)</a:t>
            </a:r>
          </a:p>
          <a:p>
            <a:r>
              <a:rPr lang="ja-JP" altLang="en-US"/>
              <a:t>を使って</a:t>
            </a:r>
            <a:r>
              <a:rPr lang="en-US" altLang="ja-JP"/>
              <a:t>windows form</a:t>
            </a:r>
            <a:r>
              <a:rPr lang="ja-JP" altLang="en-US"/>
              <a:t>方式の</a:t>
            </a:r>
            <a:endParaRPr lang="en-US" altLang="ja-JP"/>
          </a:p>
          <a:p>
            <a:r>
              <a:rPr lang="en-US" altLang="ja-JP"/>
              <a:t>windows</a:t>
            </a:r>
            <a:r>
              <a:rPr lang="ja-JP" altLang="en-US"/>
              <a:t>アプリを開発することが可能。</a:t>
            </a:r>
            <a:endParaRPr lang="en-US" altLang="ja-JP"/>
          </a:p>
          <a:p>
            <a:endParaRPr kumimoji="1" lang="en-US" altLang="ja-JP"/>
          </a:p>
          <a:p>
            <a:r>
              <a:rPr lang="ja-JP" altLang="en-US"/>
              <a:t>（個人的には好きじゃない）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13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7176E8A-973C-4BDF-869F-CB397BD53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151" y="1685905"/>
            <a:ext cx="8652197" cy="481207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A59C9D-84BE-4ACE-A838-941862DEC015}"/>
              </a:ext>
            </a:extLst>
          </p:cNvPr>
          <p:cNvSpPr txBox="1"/>
          <p:nvPr/>
        </p:nvSpPr>
        <p:spPr>
          <a:xfrm>
            <a:off x="2114550" y="605790"/>
            <a:ext cx="71994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800" b="1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ja-JP" altLang="en-US" sz="4800" b="1">
                <a:solidFill>
                  <a:schemeClr val="accent1">
                    <a:lumMod val="75000"/>
                  </a:schemeClr>
                </a:solidFill>
              </a:rPr>
              <a:t>アーキテクチャ</a:t>
            </a:r>
            <a:endParaRPr kumimoji="1" lang="ja-JP" altLang="en-US" sz="48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42E486B-617D-491C-9D67-C16B1C1D1789}"/>
              </a:ext>
            </a:extLst>
          </p:cNvPr>
          <p:cNvSpPr/>
          <p:nvPr/>
        </p:nvSpPr>
        <p:spPr>
          <a:xfrm>
            <a:off x="8515350" y="1554480"/>
            <a:ext cx="560070" cy="25374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94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9CD6A6-0666-44A1-8F3B-822B44BA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</a:rPr>
              <a:t>Visual Studio 2019 Community </a:t>
            </a:r>
            <a:r>
              <a:rPr kumimoji="1" lang="ja-JP" altLang="en-US" sz="2000" b="1"/>
              <a:t>インストール方法（略）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DA3C480-1792-4777-A6BC-7BD509AF1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8258"/>
            <a:ext cx="9753600" cy="486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78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1. </a:t>
            </a:r>
            <a:r>
              <a:rPr kumimoji="1" lang="ja-JP" altLang="en-US" sz="2400" b="1"/>
              <a:t>ソリューションとプロジェクト作成</a:t>
            </a:r>
            <a:r>
              <a:rPr kumimoji="1" lang="en-US" altLang="ja-JP" sz="2400" b="1"/>
              <a:t>(1)</a:t>
            </a:r>
            <a:endParaRPr kumimoji="1" lang="ja-JP" altLang="en-US" sz="24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0BF36D0-A052-4653-845C-8B884070E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82" y="988828"/>
            <a:ext cx="9360195" cy="5566323"/>
          </a:xfrm>
          <a:prstGeom prst="rect">
            <a:avLst/>
          </a:prstGeom>
        </p:spPr>
      </p:pic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DCB42347-3554-4397-A0C6-8E3DB347DC6B}"/>
              </a:ext>
            </a:extLst>
          </p:cNvPr>
          <p:cNvSpPr/>
          <p:nvPr/>
        </p:nvSpPr>
        <p:spPr>
          <a:xfrm>
            <a:off x="2296633" y="3859618"/>
            <a:ext cx="3923414" cy="1531089"/>
          </a:xfrm>
          <a:prstGeom prst="wedgeRoundRectCallout">
            <a:avLst>
              <a:gd name="adj1" fmla="val 62325"/>
              <a:gd name="adj2" fmla="val 2132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/>
              <a:t>Vs2019</a:t>
            </a:r>
            <a:r>
              <a:rPr kumimoji="1" lang="ja-JP" altLang="en-US"/>
              <a:t>を起動し、「</a:t>
            </a:r>
            <a:r>
              <a:rPr kumimoji="1" lang="en-US" altLang="ja-JP"/>
              <a:t>create a new project</a:t>
            </a:r>
            <a:r>
              <a:rPr kumimoji="1" lang="ja-JP" altLang="en-US"/>
              <a:t>」をクリック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310151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1. </a:t>
            </a:r>
            <a:r>
              <a:rPr kumimoji="1" lang="ja-JP" altLang="en-US" sz="2400" b="1"/>
              <a:t>ソリューションとプロジェクト作成</a:t>
            </a:r>
            <a:r>
              <a:rPr kumimoji="1" lang="en-US" altLang="ja-JP" sz="2400" b="1"/>
              <a:t>(2)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45E6EC-22C5-4C15-AE23-215951B6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56929"/>
            <a:ext cx="9753600" cy="5736487"/>
          </a:xfrm>
          <a:prstGeom prst="rect">
            <a:avLst/>
          </a:prstGeom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7C435B2E-F74E-423F-A426-F1E507CC93EF}"/>
              </a:ext>
            </a:extLst>
          </p:cNvPr>
          <p:cNvSpPr/>
          <p:nvPr/>
        </p:nvSpPr>
        <p:spPr>
          <a:xfrm>
            <a:off x="1424762" y="1350334"/>
            <a:ext cx="3147237" cy="457201"/>
          </a:xfrm>
          <a:prstGeom prst="wedgeRoundRectCallout">
            <a:avLst>
              <a:gd name="adj1" fmla="val 71662"/>
              <a:gd name="adj2" fmla="val -1514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/>
              <a:t>１．「</a:t>
            </a:r>
            <a:r>
              <a:rPr kumimoji="1" lang="en-US" altLang="ja-JP"/>
              <a:t>c# winform</a:t>
            </a:r>
            <a:r>
              <a:rPr kumimoji="1" lang="ja-JP" altLang="en-US"/>
              <a:t>」を入力</a:t>
            </a: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19FBF317-A8C8-4D40-809C-30BBF05B7C2F}"/>
              </a:ext>
            </a:extLst>
          </p:cNvPr>
          <p:cNvSpPr/>
          <p:nvPr/>
        </p:nvSpPr>
        <p:spPr>
          <a:xfrm>
            <a:off x="1424762" y="2278911"/>
            <a:ext cx="3147237" cy="1150089"/>
          </a:xfrm>
          <a:prstGeom prst="wedgeRoundRectCallout">
            <a:avLst>
              <a:gd name="adj1" fmla="val 72676"/>
              <a:gd name="adj2" fmla="val -3548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/>
              <a:t>2. Windows Forms App(.NET Framework)</a:t>
            </a:r>
            <a:r>
              <a:rPr kumimoji="1" lang="ja-JP" altLang="en-US"/>
              <a:t>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552981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1. </a:t>
            </a:r>
            <a:r>
              <a:rPr kumimoji="1" lang="ja-JP" altLang="en-US" sz="2400" b="1"/>
              <a:t>ソリューションとプロジェクト作成</a:t>
            </a:r>
            <a:r>
              <a:rPr kumimoji="1" lang="en-US" altLang="ja-JP" sz="2400" b="1"/>
              <a:t>(3)</a:t>
            </a:r>
            <a:endParaRPr kumimoji="1" lang="ja-JP" altLang="en-US" sz="24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A5EEBE5-21FB-40C0-B6A6-A9E266DC8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42" y="999459"/>
            <a:ext cx="9753600" cy="5736487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20C9A85D-5BDD-4267-9A99-80122192E922}"/>
              </a:ext>
            </a:extLst>
          </p:cNvPr>
          <p:cNvSpPr/>
          <p:nvPr/>
        </p:nvSpPr>
        <p:spPr>
          <a:xfrm>
            <a:off x="5582092" y="1860697"/>
            <a:ext cx="3147237" cy="457201"/>
          </a:xfrm>
          <a:prstGeom prst="wedgeRoundRectCallout">
            <a:avLst>
              <a:gd name="adj1" fmla="val -150297"/>
              <a:gd name="adj2" fmla="val 802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/>
              <a:t>１</a:t>
            </a:r>
            <a:r>
              <a:rPr kumimoji="1" lang="en-US" altLang="ja-JP"/>
              <a:t>. </a:t>
            </a:r>
            <a:r>
              <a:rPr kumimoji="1" lang="ja-JP" altLang="en-US"/>
              <a:t>プロジェクト名指定</a:t>
            </a: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CCCE37A4-ABAA-404F-8ED1-7152AEC5AE2E}"/>
              </a:ext>
            </a:extLst>
          </p:cNvPr>
          <p:cNvSpPr/>
          <p:nvPr/>
        </p:nvSpPr>
        <p:spPr>
          <a:xfrm>
            <a:off x="5582092" y="2532244"/>
            <a:ext cx="3147237" cy="457201"/>
          </a:xfrm>
          <a:prstGeom prst="wedgeRoundRectCallout">
            <a:avLst>
              <a:gd name="adj1" fmla="val -150297"/>
              <a:gd name="adj2" fmla="val 802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/>
              <a:t>２</a:t>
            </a:r>
            <a:r>
              <a:rPr kumimoji="1" lang="en-US" altLang="ja-JP"/>
              <a:t>. </a:t>
            </a:r>
            <a:r>
              <a:rPr kumimoji="1" lang="ja-JP" altLang="en-US"/>
              <a:t>保存場所指定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5406C0-638A-4D73-B9EC-89606251E964}"/>
              </a:ext>
            </a:extLst>
          </p:cNvPr>
          <p:cNvSpPr/>
          <p:nvPr/>
        </p:nvSpPr>
        <p:spPr>
          <a:xfrm>
            <a:off x="1456660" y="3700130"/>
            <a:ext cx="3391787" cy="988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C845FB36-E186-4F68-9579-150B6504417E}"/>
              </a:ext>
            </a:extLst>
          </p:cNvPr>
          <p:cNvSpPr/>
          <p:nvPr/>
        </p:nvSpPr>
        <p:spPr>
          <a:xfrm>
            <a:off x="5603356" y="3296016"/>
            <a:ext cx="3689500" cy="708763"/>
          </a:xfrm>
          <a:prstGeom prst="wedgeRoundRectCallout">
            <a:avLst>
              <a:gd name="adj1" fmla="val -150803"/>
              <a:gd name="adj2" fmla="val 9754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/>
              <a:t>３．ソリューション名はとりあえずデフォでよい</a:t>
            </a: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0AA16B1F-BB49-4746-ADED-2FFA874FDA13}"/>
              </a:ext>
            </a:extLst>
          </p:cNvPr>
          <p:cNvSpPr/>
          <p:nvPr/>
        </p:nvSpPr>
        <p:spPr>
          <a:xfrm>
            <a:off x="5570571" y="4311350"/>
            <a:ext cx="3689500" cy="708763"/>
          </a:xfrm>
          <a:prstGeom prst="wedgeRoundRectCallout">
            <a:avLst>
              <a:gd name="adj1" fmla="val -122273"/>
              <a:gd name="adj2" fmla="val 6603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/>
              <a:t>４．ターゲットとなる</a:t>
            </a:r>
            <a:r>
              <a:rPr lang="en-US" altLang="ja-JP"/>
              <a:t>.Net FW</a:t>
            </a:r>
            <a:r>
              <a:rPr lang="ja-JP" altLang="en-US"/>
              <a:t>のバージョンを指定</a:t>
            </a:r>
            <a:endParaRPr kumimoji="1" lang="ja-JP" altLang="en-US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AC30F934-0C0A-4547-BBBD-342A2A92EFF0}"/>
              </a:ext>
            </a:extLst>
          </p:cNvPr>
          <p:cNvSpPr/>
          <p:nvPr/>
        </p:nvSpPr>
        <p:spPr>
          <a:xfrm>
            <a:off x="4393901" y="5261305"/>
            <a:ext cx="3689500" cy="708763"/>
          </a:xfrm>
          <a:prstGeom prst="wedgeRoundRectCallout">
            <a:avLst>
              <a:gd name="adj1" fmla="val 89255"/>
              <a:gd name="adj2" fmla="val 7203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5. </a:t>
            </a:r>
            <a:r>
              <a:rPr lang="ja-JP" altLang="en-US"/>
              <a:t>作成ボタンをクリック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84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D893017-F09B-4A09-BDC6-09A49D77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047"/>
            <a:ext cx="12192000" cy="630931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0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1. </a:t>
            </a:r>
            <a:r>
              <a:rPr kumimoji="1" lang="ja-JP" altLang="en-US" sz="2400" b="1"/>
              <a:t>ソリューションとプロジェクト作成</a:t>
            </a:r>
            <a:r>
              <a:rPr kumimoji="1" lang="en-US" altLang="ja-JP" sz="2400" b="1"/>
              <a:t>(4)</a:t>
            </a:r>
            <a:endParaRPr kumimoji="1" lang="ja-JP" altLang="en-US" sz="2400" b="1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E81925F6-7F0A-4D21-A786-8123954E7CF1}"/>
              </a:ext>
            </a:extLst>
          </p:cNvPr>
          <p:cNvSpPr/>
          <p:nvPr/>
        </p:nvSpPr>
        <p:spPr>
          <a:xfrm>
            <a:off x="616688" y="3074618"/>
            <a:ext cx="1871332" cy="708763"/>
          </a:xfrm>
          <a:prstGeom prst="wedgeRoundRectCallout">
            <a:avLst>
              <a:gd name="adj1" fmla="val -22210"/>
              <a:gd name="adj2" fmla="val -10555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/>
              <a:t>ソース管理</a:t>
            </a: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62A000C5-3532-4F1A-B5F8-F680DBDA5D23}"/>
              </a:ext>
            </a:extLst>
          </p:cNvPr>
          <p:cNvSpPr/>
          <p:nvPr/>
        </p:nvSpPr>
        <p:spPr>
          <a:xfrm>
            <a:off x="616688" y="4667309"/>
            <a:ext cx="2009554" cy="1010477"/>
          </a:xfrm>
          <a:prstGeom prst="wedgeRoundRectCallout">
            <a:avLst>
              <a:gd name="adj1" fmla="val 80973"/>
              <a:gd name="adj2" fmla="val -17768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/>
              <a:t>作成する</a:t>
            </a:r>
            <a:r>
              <a:rPr kumimoji="1" lang="en-US" altLang="ja-JP"/>
              <a:t>Windows</a:t>
            </a:r>
            <a:r>
              <a:rPr kumimoji="1" lang="ja-JP" altLang="en-US"/>
              <a:t>画面</a:t>
            </a: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B7D3DAB2-EF45-4ECC-8E1C-5527F317CFD8}"/>
              </a:ext>
            </a:extLst>
          </p:cNvPr>
          <p:cNvSpPr/>
          <p:nvPr/>
        </p:nvSpPr>
        <p:spPr>
          <a:xfrm>
            <a:off x="7113183" y="1796134"/>
            <a:ext cx="1959936" cy="708763"/>
          </a:xfrm>
          <a:prstGeom prst="wedgeRoundRectCallout">
            <a:avLst>
              <a:gd name="adj1" fmla="val 86793"/>
              <a:gd name="adj2" fmla="val -3879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/>
              <a:t>ツールボックス</a:t>
            </a:r>
            <a:endParaRPr kumimoji="1" lang="ja-JP" altLang="en-US"/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1AACC1A7-CBCF-4C35-A6AD-AF0C72B6F4A0}"/>
              </a:ext>
            </a:extLst>
          </p:cNvPr>
          <p:cNvSpPr/>
          <p:nvPr/>
        </p:nvSpPr>
        <p:spPr>
          <a:xfrm>
            <a:off x="7113183" y="3428999"/>
            <a:ext cx="1959936" cy="708763"/>
          </a:xfrm>
          <a:prstGeom prst="wedgeRoundRectCallout">
            <a:avLst>
              <a:gd name="adj1" fmla="val 84623"/>
              <a:gd name="adj2" fmla="val -1179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/>
              <a:t>プロパーティズ</a:t>
            </a:r>
          </a:p>
        </p:txBody>
      </p:sp>
    </p:spTree>
    <p:extLst>
      <p:ext uri="{BB962C8B-B14F-4D97-AF65-F5344CB8AC3E}">
        <p14:creationId xmlns:p14="http://schemas.microsoft.com/office/powerpoint/2010/main" val="165070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0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2. </a:t>
            </a:r>
            <a:r>
              <a:rPr lang="ja-JP" altLang="en-US" sz="2400" b="1"/>
              <a:t>デバッグ実行方法（１）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6F8A18-8840-4465-8CFB-3298CB83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056"/>
            <a:ext cx="12192000" cy="622829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5826430-99FF-4513-809F-C3BDAE06F29A}"/>
              </a:ext>
            </a:extLst>
          </p:cNvPr>
          <p:cNvSpPr/>
          <p:nvPr/>
        </p:nvSpPr>
        <p:spPr>
          <a:xfrm>
            <a:off x="1998920" y="725823"/>
            <a:ext cx="563527" cy="284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8BC8728F-C945-4EFA-883E-E44993DC8256}"/>
              </a:ext>
            </a:extLst>
          </p:cNvPr>
          <p:cNvSpPr/>
          <p:nvPr/>
        </p:nvSpPr>
        <p:spPr>
          <a:xfrm>
            <a:off x="616687" y="3074618"/>
            <a:ext cx="3104707" cy="870061"/>
          </a:xfrm>
          <a:prstGeom prst="wedgeRoundRectCallout">
            <a:avLst>
              <a:gd name="adj1" fmla="val 1770"/>
              <a:gd name="adj2" fmla="val -29097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/>
              <a:t>1. </a:t>
            </a:r>
            <a:r>
              <a:rPr kumimoji="1" lang="ja-JP" altLang="en-US"/>
              <a:t>「</a:t>
            </a:r>
            <a:r>
              <a:rPr kumimoji="1" lang="en-US" altLang="ja-JP"/>
              <a:t>Debug</a:t>
            </a:r>
            <a:r>
              <a:rPr kumimoji="1" lang="ja-JP" altLang="en-US"/>
              <a:t>」になっていることを確認し</a:t>
            </a: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87E2525D-469A-4CF0-8F9F-C8A11205EF61}"/>
              </a:ext>
            </a:extLst>
          </p:cNvPr>
          <p:cNvSpPr/>
          <p:nvPr/>
        </p:nvSpPr>
        <p:spPr>
          <a:xfrm>
            <a:off x="3948222" y="3074618"/>
            <a:ext cx="3104707" cy="870061"/>
          </a:xfrm>
          <a:prstGeom prst="wedgeRoundRectCallout">
            <a:avLst>
              <a:gd name="adj1" fmla="val -55422"/>
              <a:gd name="adj2" fmla="val -29342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/>
              <a:t>２</a:t>
            </a:r>
            <a:r>
              <a:rPr lang="en-US" altLang="ja-JP"/>
              <a:t>.</a:t>
            </a:r>
            <a:r>
              <a:rPr lang="ja-JP" altLang="en-US"/>
              <a:t>「</a:t>
            </a:r>
            <a:r>
              <a:rPr lang="en-US" altLang="ja-JP"/>
              <a:t>Start</a:t>
            </a:r>
            <a:r>
              <a:rPr lang="ja-JP" altLang="en-US"/>
              <a:t>」をクリック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16200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0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2. </a:t>
            </a:r>
            <a:r>
              <a:rPr lang="ja-JP" altLang="en-US" sz="2400" b="1"/>
              <a:t>デバッグ実行方法（</a:t>
            </a:r>
            <a:r>
              <a:rPr lang="en-US" altLang="ja-JP" sz="2400" b="1"/>
              <a:t>2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15AEB83-B893-4CBD-9E1E-8008735F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688"/>
            <a:ext cx="12192000" cy="622425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3D70E91-497F-4562-82B1-3FF31C9AC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233" y="825131"/>
            <a:ext cx="7639050" cy="4591050"/>
          </a:xfrm>
          <a:prstGeom prst="rect">
            <a:avLst/>
          </a:prstGeom>
        </p:spPr>
      </p:pic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3D440A5C-4A5F-4A21-A905-311D4F5C3DF0}"/>
              </a:ext>
            </a:extLst>
          </p:cNvPr>
          <p:cNvSpPr/>
          <p:nvPr/>
        </p:nvSpPr>
        <p:spPr>
          <a:xfrm>
            <a:off x="330717" y="4307995"/>
            <a:ext cx="3104707" cy="870061"/>
          </a:xfrm>
          <a:prstGeom prst="wedgeRoundRectCallout">
            <a:avLst>
              <a:gd name="adj1" fmla="val 34304"/>
              <a:gd name="adj2" fmla="val 12451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1. helloworld.exe </a:t>
            </a:r>
            <a:r>
              <a:rPr lang="ja-JP" altLang="en-US"/>
              <a:t>が生成されたってこと。</a:t>
            </a:r>
            <a:endParaRPr lang="en-US" altLang="ja-JP"/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0EC755DC-5186-4703-AB7D-B4A8A6788FE5}"/>
              </a:ext>
            </a:extLst>
          </p:cNvPr>
          <p:cNvSpPr/>
          <p:nvPr/>
        </p:nvSpPr>
        <p:spPr>
          <a:xfrm>
            <a:off x="558763" y="2703090"/>
            <a:ext cx="3104707" cy="870061"/>
          </a:xfrm>
          <a:prstGeom prst="wedgeRoundRectCallout">
            <a:avLst>
              <a:gd name="adj1" fmla="val 66838"/>
              <a:gd name="adj2" fmla="val -7589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2. helloworld.exe </a:t>
            </a:r>
            <a:r>
              <a:rPr lang="ja-JP" altLang="en-US"/>
              <a:t>が実行される。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92006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0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2. </a:t>
            </a:r>
            <a:r>
              <a:rPr lang="ja-JP" altLang="en-US" sz="2400" b="1"/>
              <a:t>デバッグ実行方法（</a:t>
            </a:r>
            <a:r>
              <a:rPr lang="en-US" altLang="ja-JP" sz="2400" b="1"/>
              <a:t>3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B272F4E-AA97-4B9E-BCB7-C3B63677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45375"/>
            <a:ext cx="5486399" cy="385219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582F02A-9159-404A-B3E5-8035C3003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60" y="2507065"/>
            <a:ext cx="6620540" cy="4333875"/>
          </a:xfrm>
          <a:prstGeom prst="rect">
            <a:avLst/>
          </a:prstGeom>
        </p:spPr>
      </p:pic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761D01C5-0C6E-467C-B6C5-24B763F1C597}"/>
              </a:ext>
            </a:extLst>
          </p:cNvPr>
          <p:cNvSpPr/>
          <p:nvPr/>
        </p:nvSpPr>
        <p:spPr>
          <a:xfrm>
            <a:off x="90931" y="4674002"/>
            <a:ext cx="3545404" cy="870061"/>
          </a:xfrm>
          <a:prstGeom prst="wedgeRoundRectCallout">
            <a:avLst>
              <a:gd name="adj1" fmla="val 3178"/>
              <a:gd name="adj2" fmla="val -18466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ja-JP" altLang="en-US"/>
              <a:t>ソリューションファイル</a:t>
            </a:r>
            <a:endParaRPr lang="en-US" altLang="ja-JP"/>
          </a:p>
          <a:p>
            <a:r>
              <a:rPr lang="ja-JP" altLang="en-US"/>
              <a:t>　拡張子： </a:t>
            </a:r>
            <a:r>
              <a:rPr lang="en-US" altLang="ja-JP"/>
              <a:t>.sln</a:t>
            </a:r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14DAA7D1-A0A2-4FD5-B38F-30D0ECD6A79A}"/>
              </a:ext>
            </a:extLst>
          </p:cNvPr>
          <p:cNvSpPr/>
          <p:nvPr/>
        </p:nvSpPr>
        <p:spPr>
          <a:xfrm>
            <a:off x="2625024" y="1987509"/>
            <a:ext cx="3104707" cy="870061"/>
          </a:xfrm>
          <a:prstGeom prst="wedgeRoundRectCallout">
            <a:avLst>
              <a:gd name="adj1" fmla="val -66724"/>
              <a:gd name="adj2" fmla="val 9518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2. </a:t>
            </a:r>
            <a:r>
              <a:rPr lang="ja-JP" altLang="en-US"/>
              <a:t>プロジェクトファイル</a:t>
            </a:r>
            <a:endParaRPr lang="en-US" altLang="ja-JP"/>
          </a:p>
          <a:p>
            <a:r>
              <a:rPr lang="ja-JP" altLang="en-US"/>
              <a:t>　拡張子</a:t>
            </a:r>
            <a:r>
              <a:rPr lang="en-US" altLang="ja-JP"/>
              <a:t>:   .csproj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C48B982-0D35-4D6D-B905-4B7CE93E20E6}"/>
              </a:ext>
            </a:extLst>
          </p:cNvPr>
          <p:cNvCxnSpPr>
            <a:endCxn id="6" idx="1"/>
          </p:cNvCxnSpPr>
          <p:nvPr/>
        </p:nvCxnSpPr>
        <p:spPr>
          <a:xfrm>
            <a:off x="1626781" y="2211572"/>
            <a:ext cx="3944679" cy="246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AE4A01-FE8D-4E2B-8695-DF4291071D73}"/>
              </a:ext>
            </a:extLst>
          </p:cNvPr>
          <p:cNvSpPr/>
          <p:nvPr/>
        </p:nvSpPr>
        <p:spPr>
          <a:xfrm>
            <a:off x="9346019" y="3040912"/>
            <a:ext cx="1350335" cy="38808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5B13918F-53E3-4493-9359-CC95B1BA2E77}"/>
              </a:ext>
            </a:extLst>
          </p:cNvPr>
          <p:cNvSpPr/>
          <p:nvPr/>
        </p:nvSpPr>
        <p:spPr>
          <a:xfrm>
            <a:off x="7612911" y="5079899"/>
            <a:ext cx="4348717" cy="1086985"/>
          </a:xfrm>
          <a:prstGeom prst="wedgeRoundRectCallout">
            <a:avLst>
              <a:gd name="adj1" fmla="val -41383"/>
              <a:gd name="adj2" fmla="val -13796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3. .\bin\Debug</a:t>
            </a:r>
            <a:r>
              <a:rPr lang="ja-JP" altLang="en-US"/>
              <a:t>配下に</a:t>
            </a:r>
            <a:endParaRPr lang="en-US" altLang="ja-JP"/>
          </a:p>
          <a:p>
            <a:r>
              <a:rPr lang="en-US" altLang="ja-JP"/>
              <a:t>   helloworld.exe </a:t>
            </a:r>
            <a:r>
              <a:rPr lang="ja-JP" altLang="en-US"/>
              <a:t>が作成されている。</a:t>
            </a:r>
            <a:endParaRPr lang="en-US" altLang="ja-JP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F734F6-4540-48E2-B142-B1BF2C42F71B}"/>
              </a:ext>
            </a:extLst>
          </p:cNvPr>
          <p:cNvSpPr txBox="1"/>
          <p:nvPr/>
        </p:nvSpPr>
        <p:spPr>
          <a:xfrm>
            <a:off x="372140" y="5773479"/>
            <a:ext cx="49689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Solution A                .sln</a:t>
            </a:r>
          </a:p>
          <a:p>
            <a:r>
              <a:rPr lang="en-US" altLang="ja-JP"/>
              <a:t>  |_ project A            .csproj</a:t>
            </a:r>
          </a:p>
          <a:p>
            <a:r>
              <a:rPr kumimoji="1" lang="en-US" altLang="ja-JP"/>
              <a:t>  |_ project B            .csproj</a:t>
            </a:r>
          </a:p>
          <a:p>
            <a:r>
              <a:rPr lang="en-US" altLang="ja-JP"/>
              <a:t>   …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7002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72167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2. </a:t>
            </a:r>
            <a:r>
              <a:rPr lang="ja-JP" altLang="en-US" sz="2400" b="1"/>
              <a:t>デバッグ実行方法（</a:t>
            </a:r>
            <a:r>
              <a:rPr lang="en-US" altLang="ja-JP" sz="2400" b="1"/>
              <a:t>4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F477FC-2F4B-4B2B-8FDF-1DC49827C147}"/>
              </a:ext>
            </a:extLst>
          </p:cNvPr>
          <p:cNvSpPr txBox="1"/>
          <p:nvPr/>
        </p:nvSpPr>
        <p:spPr>
          <a:xfrm>
            <a:off x="648586" y="1084521"/>
            <a:ext cx="6588663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ちなみに、</a:t>
            </a:r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ja-JP" altLang="en-US"/>
              <a:t>　</a:t>
            </a:r>
            <a:r>
              <a:rPr lang="en-US" altLang="ja-JP"/>
              <a:t>OS</a:t>
            </a:r>
            <a:r>
              <a:rPr kumimoji="1" lang="ja-JP" altLang="en-US"/>
              <a:t>上で</a:t>
            </a:r>
            <a:r>
              <a:rPr kumimoji="1" lang="ja-JP" altLang="en-US" b="1">
                <a:solidFill>
                  <a:schemeClr val="accent1">
                    <a:lumMod val="75000"/>
                  </a:schemeClr>
                </a:solidFill>
              </a:rPr>
              <a:t>実行可能</a:t>
            </a:r>
            <a:r>
              <a:rPr kumimoji="1" lang="ja-JP" altLang="en-US"/>
              <a:t>はファイルの拡張子は</a:t>
            </a:r>
            <a:endParaRPr kumimoji="1" lang="en-US" altLang="ja-JP"/>
          </a:p>
          <a:p>
            <a:endParaRPr lang="en-US" altLang="ja-JP"/>
          </a:p>
          <a:p>
            <a:r>
              <a:rPr kumimoji="1" lang="en-US" altLang="ja-JP" b="1"/>
              <a:t>.COM</a:t>
            </a:r>
            <a:r>
              <a:rPr lang="ja-JP" altLang="en-US" b="1"/>
              <a:t> </a:t>
            </a:r>
            <a:r>
              <a:rPr lang="en-US" altLang="ja-JP"/>
              <a:t>/</a:t>
            </a:r>
            <a:r>
              <a:rPr lang="ja-JP" altLang="en-US"/>
              <a:t> </a:t>
            </a:r>
            <a:r>
              <a:rPr kumimoji="1" lang="en-US" altLang="ja-JP" b="1">
                <a:solidFill>
                  <a:srgbClr val="FF0000"/>
                </a:solidFill>
              </a:rPr>
              <a:t>.EXE </a:t>
            </a:r>
            <a:r>
              <a:rPr kumimoji="1" lang="en-US" altLang="ja-JP"/>
              <a:t>/ </a:t>
            </a:r>
            <a:r>
              <a:rPr kumimoji="1" lang="en-US" altLang="ja-JP" b="1">
                <a:solidFill>
                  <a:srgbClr val="FF0000"/>
                </a:solidFill>
              </a:rPr>
              <a:t>.BAT </a:t>
            </a:r>
            <a:r>
              <a:rPr kumimoji="1" lang="ja-JP" altLang="en-US"/>
              <a:t>のみ。</a:t>
            </a:r>
            <a:endParaRPr kumimoji="1" lang="en-US" altLang="ja-JP"/>
          </a:p>
          <a:p>
            <a:endParaRPr lang="en-US" altLang="ja-JP"/>
          </a:p>
          <a:p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</a:rPr>
              <a:t>.COM </a:t>
            </a:r>
          </a:p>
          <a:p>
            <a:r>
              <a:rPr lang="en-US" altLang="ja-JP"/>
              <a:t>        windows</a:t>
            </a:r>
            <a:r>
              <a:rPr lang="ja-JP" altLang="en-US"/>
              <a:t>実行可能プログラムファイルの一種。</a:t>
            </a:r>
            <a:endParaRPr lang="en-US" altLang="ja-JP"/>
          </a:p>
          <a:p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>
                <a:solidFill>
                  <a:schemeClr val="accent1">
                    <a:lumMod val="75000"/>
                  </a:schemeClr>
                </a:solidFill>
              </a:rPr>
              <a:t>.EXE (PE</a:t>
            </a:r>
            <a:r>
              <a:rPr lang="ja-JP" altLang="en-US" b="1">
                <a:solidFill>
                  <a:schemeClr val="accent1">
                    <a:lumMod val="75000"/>
                  </a:schemeClr>
                </a:solidFill>
              </a:rPr>
              <a:t>形式）</a:t>
            </a:r>
            <a:endParaRPr lang="en-US" altLang="ja-JP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/>
              <a:t>　　 </a:t>
            </a:r>
            <a:r>
              <a:rPr lang="en-US" altLang="ja-JP"/>
              <a:t>windows</a:t>
            </a:r>
            <a:r>
              <a:rPr lang="ja-JP" altLang="en-US"/>
              <a:t>実行可能プログラムファイルの一種。</a:t>
            </a:r>
            <a:endParaRPr lang="en-US" altLang="ja-JP"/>
          </a:p>
          <a:p>
            <a:endParaRPr kumimoji="1"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>
                <a:solidFill>
                  <a:schemeClr val="accent1">
                    <a:lumMod val="75000"/>
                  </a:schemeClr>
                </a:solidFill>
              </a:rPr>
              <a:t>.BAT </a:t>
            </a:r>
          </a:p>
          <a:p>
            <a:r>
              <a:rPr lang="en-US" altLang="ja-JP"/>
              <a:t>        windows</a:t>
            </a:r>
            <a:r>
              <a:rPr lang="ja-JP" altLang="en-US"/>
              <a:t>バッチファイル。</a:t>
            </a:r>
            <a:endParaRPr lang="en-US" altLang="ja-JP"/>
          </a:p>
          <a:p>
            <a:r>
              <a:rPr kumimoji="1" lang="en-US" altLang="ja-JP"/>
              <a:t>        </a:t>
            </a:r>
            <a:r>
              <a:rPr lang="en-US" altLang="ja-JP"/>
              <a:t>-&gt; powershell -&gt; WSL</a:t>
            </a:r>
            <a:r>
              <a:rPr lang="ja-JP" altLang="en-US"/>
              <a:t>にシフトしつつある。</a:t>
            </a:r>
            <a:endParaRPr kumimoji="1" lang="en-US" altLang="ja-JP"/>
          </a:p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69600CB-7CC6-4EFF-8C4C-EDB1D7333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107" y="1417120"/>
            <a:ext cx="5162550" cy="2428875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62FD65-0022-4A74-B92D-86CB73986574}"/>
              </a:ext>
            </a:extLst>
          </p:cNvPr>
          <p:cNvSpPr/>
          <p:nvPr/>
        </p:nvSpPr>
        <p:spPr>
          <a:xfrm>
            <a:off x="8654903" y="3014135"/>
            <a:ext cx="1360967" cy="165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A393F7BF-2129-456D-B7F1-BAE8E226FD23}"/>
              </a:ext>
            </a:extLst>
          </p:cNvPr>
          <p:cNvCxnSpPr/>
          <p:nvPr/>
        </p:nvCxnSpPr>
        <p:spPr>
          <a:xfrm>
            <a:off x="1935126" y="2615609"/>
            <a:ext cx="6634716" cy="398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図 12">
            <a:extLst>
              <a:ext uri="{FF2B5EF4-FFF2-40B4-BE49-F238E27FC236}">
                <a16:creationId xmlns:a16="http://schemas.microsoft.com/office/drawing/2014/main" id="{42F3B864-AC32-4658-ACDC-941E2A350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107" y="3876134"/>
            <a:ext cx="4476750" cy="2257425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1561F9A-9ACB-4A4A-B916-80E76F480B77}"/>
              </a:ext>
            </a:extLst>
          </p:cNvPr>
          <p:cNvSpPr/>
          <p:nvPr/>
        </p:nvSpPr>
        <p:spPr>
          <a:xfrm>
            <a:off x="6585108" y="3999355"/>
            <a:ext cx="2069795" cy="177412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4868F68-0DBD-407F-8B78-E829BCF7A1D8}"/>
              </a:ext>
            </a:extLst>
          </p:cNvPr>
          <p:cNvCxnSpPr>
            <a:cxnSpLocks/>
          </p:cNvCxnSpPr>
          <p:nvPr/>
        </p:nvCxnSpPr>
        <p:spPr>
          <a:xfrm>
            <a:off x="2604977" y="3429000"/>
            <a:ext cx="3980131" cy="1228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850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272167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2. </a:t>
            </a:r>
            <a:r>
              <a:rPr lang="ja-JP" altLang="en-US" sz="2400" b="1"/>
              <a:t>デバッグ実行方法（</a:t>
            </a:r>
            <a:r>
              <a:rPr lang="en-US" altLang="ja-JP" sz="2400" b="1"/>
              <a:t>5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E3E133-71CC-4771-A6DF-38D8A1CB0AEB}"/>
              </a:ext>
            </a:extLst>
          </p:cNvPr>
          <p:cNvSpPr txBox="1"/>
          <p:nvPr/>
        </p:nvSpPr>
        <p:spPr>
          <a:xfrm>
            <a:off x="742950" y="1244009"/>
            <a:ext cx="10033516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我々が作成した　</a:t>
            </a:r>
            <a:r>
              <a:rPr kumimoji="1" lang="en-US" altLang="ja-JP"/>
              <a:t>helloworld.exe </a:t>
            </a:r>
            <a:r>
              <a:rPr kumimoji="1" lang="ja-JP" altLang="en-US"/>
              <a:t>は厳密にいえば、 </a:t>
            </a:r>
            <a:endParaRPr kumimoji="1" lang="en-US" altLang="ja-JP"/>
          </a:p>
          <a:p>
            <a:endParaRPr lang="en-US" altLang="ja-JP"/>
          </a:p>
          <a:p>
            <a:r>
              <a:rPr kumimoji="1" lang="en-US" altLang="ja-JP"/>
              <a:t>windows</a:t>
            </a:r>
            <a:r>
              <a:rPr kumimoji="1" lang="ja-JP" altLang="en-US"/>
              <a:t>実行可能アプリの</a:t>
            </a:r>
            <a:r>
              <a:rPr kumimoji="1" lang="en-US" altLang="ja-JP"/>
              <a:t>EXE(PE</a:t>
            </a:r>
            <a:r>
              <a:rPr kumimoji="1" lang="ja-JP" altLang="en-US"/>
              <a:t>形式）ではありません。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が、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/>
              <a:t>当面の間は、</a:t>
            </a:r>
            <a:endParaRPr kumimoji="1" lang="en-US" altLang="ja-JP"/>
          </a:p>
          <a:p>
            <a:endParaRPr lang="en-US" altLang="ja-JP"/>
          </a:p>
          <a:p>
            <a:r>
              <a:rPr kumimoji="1" lang="ja-JP" altLang="en-US" sz="2400"/>
              <a:t>「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Visual studio2019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で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C#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プログラミングが可能で、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xxxxx.EXE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が</a:t>
            </a:r>
            <a:endParaRPr kumimoji="1"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作成されるんだ。</a:t>
            </a:r>
            <a:endParaRPr kumimoji="1"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これは実行可能ファイルで、ダブルクリックすると実行されるんだ。</a:t>
            </a:r>
            <a:r>
              <a:rPr kumimoji="1" lang="ja-JP" altLang="en-US" sz="2400"/>
              <a:t>」</a:t>
            </a:r>
            <a:endParaRPr kumimoji="1" lang="en-US" altLang="ja-JP" sz="2400"/>
          </a:p>
          <a:p>
            <a:endParaRPr lang="en-US" altLang="ja-JP" sz="2400"/>
          </a:p>
          <a:p>
            <a:r>
              <a:rPr kumimoji="1" lang="ja-JP" altLang="en-US"/>
              <a:t>っていう認識で</a:t>
            </a:r>
            <a:r>
              <a:rPr kumimoji="1" lang="en-US" altLang="ja-JP"/>
              <a:t>OK</a:t>
            </a:r>
            <a:r>
              <a:rPr kumimoji="1" lang="ja-JP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70827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85" y="0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3. </a:t>
            </a:r>
            <a:r>
              <a:rPr lang="ja-JP" altLang="en-US" sz="2400" b="1"/>
              <a:t>リリース版の作成と実行方法（</a:t>
            </a:r>
            <a:r>
              <a:rPr lang="en-US" altLang="ja-JP" sz="2400" b="1"/>
              <a:t>1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9BFB80-E5B5-4C8B-B7FF-4D76E12D7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791"/>
            <a:ext cx="12192000" cy="6256149"/>
          </a:xfrm>
          <a:prstGeom prst="rect">
            <a:avLst/>
          </a:prstGeom>
        </p:spPr>
      </p:pic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F6F6F239-EE55-4D00-B5A6-38239774F6F0}"/>
              </a:ext>
            </a:extLst>
          </p:cNvPr>
          <p:cNvSpPr/>
          <p:nvPr/>
        </p:nvSpPr>
        <p:spPr>
          <a:xfrm>
            <a:off x="367377" y="2469760"/>
            <a:ext cx="3545404" cy="870061"/>
          </a:xfrm>
          <a:prstGeom prst="wedgeRoundRectCallout">
            <a:avLst>
              <a:gd name="adj1" fmla="val 3178"/>
              <a:gd name="adj2" fmla="val -18466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ja-JP"/>
              <a:t>Release</a:t>
            </a:r>
            <a:r>
              <a:rPr lang="ja-JP" altLang="en-US"/>
              <a:t>を選択し</a:t>
            </a:r>
            <a:endParaRPr lang="en-US" altLang="ja-JP"/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960EF0BD-61A8-4605-A5B7-3F37343BA958}"/>
              </a:ext>
            </a:extLst>
          </p:cNvPr>
          <p:cNvSpPr/>
          <p:nvPr/>
        </p:nvSpPr>
        <p:spPr>
          <a:xfrm>
            <a:off x="4008474" y="2469760"/>
            <a:ext cx="3545404" cy="870061"/>
          </a:xfrm>
          <a:prstGeom prst="wedgeRoundRectCallout">
            <a:avLst>
              <a:gd name="adj1" fmla="val -52003"/>
              <a:gd name="adj2" fmla="val -21887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2. Start</a:t>
            </a:r>
            <a:r>
              <a:rPr lang="ja-JP" altLang="en-US"/>
              <a:t>ボタンをクリック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8443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685" y="0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3. </a:t>
            </a:r>
            <a:r>
              <a:rPr lang="ja-JP" altLang="en-US" sz="2400" b="1"/>
              <a:t>リリース版の作成と実行方法（</a:t>
            </a:r>
            <a:r>
              <a:rPr lang="en-US" altLang="ja-JP" sz="2400" b="1"/>
              <a:t>2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A57049-2C5E-4B2A-8912-36DC2586C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30" y="708763"/>
            <a:ext cx="6781800" cy="28003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1F3D92C-D669-4A86-AAC4-B121D8172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249" y="2817701"/>
            <a:ext cx="6781800" cy="28003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9A8F0F6-8591-47C5-9E01-88261C774470}"/>
              </a:ext>
            </a:extLst>
          </p:cNvPr>
          <p:cNvSpPr/>
          <p:nvPr/>
        </p:nvSpPr>
        <p:spPr>
          <a:xfrm>
            <a:off x="2251454" y="2351308"/>
            <a:ext cx="1842081" cy="3280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CE4D8F7-D4C7-4558-8A8A-E9538AC46250}"/>
              </a:ext>
            </a:extLst>
          </p:cNvPr>
          <p:cNvSpPr/>
          <p:nvPr/>
        </p:nvSpPr>
        <p:spPr>
          <a:xfrm>
            <a:off x="6096000" y="4217876"/>
            <a:ext cx="2197395" cy="2690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C0346376-E8A3-4F33-AEF4-2C7EFC927DC4}"/>
              </a:ext>
            </a:extLst>
          </p:cNvPr>
          <p:cNvSpPr/>
          <p:nvPr/>
        </p:nvSpPr>
        <p:spPr>
          <a:xfrm>
            <a:off x="2041451" y="3782845"/>
            <a:ext cx="2225638" cy="435031"/>
          </a:xfrm>
          <a:prstGeom prst="wedgeRoundRectCallout">
            <a:avLst>
              <a:gd name="adj1" fmla="val -14020"/>
              <a:gd name="adj2" fmla="val -32152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ja-JP"/>
              <a:t>Release</a:t>
            </a:r>
            <a:r>
              <a:rPr lang="ja-JP" altLang="en-US"/>
              <a:t>配下に</a:t>
            </a:r>
            <a:endParaRPr lang="en-US" altLang="ja-JP"/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27951854-2817-418C-B39D-4C0D2F081153}"/>
              </a:ext>
            </a:extLst>
          </p:cNvPr>
          <p:cNvSpPr/>
          <p:nvPr/>
        </p:nvSpPr>
        <p:spPr>
          <a:xfrm>
            <a:off x="461630" y="4486941"/>
            <a:ext cx="3631905" cy="664718"/>
          </a:xfrm>
          <a:prstGeom prst="wedgeRoundRectCallout">
            <a:avLst>
              <a:gd name="adj1" fmla="val 107576"/>
              <a:gd name="adj2" fmla="val -6748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/>
              <a:t>2. helloworld.exe</a:t>
            </a:r>
            <a:r>
              <a:rPr lang="ja-JP" altLang="en-US"/>
              <a:t>が生成される。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80412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3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3. </a:t>
            </a:r>
            <a:r>
              <a:rPr lang="ja-JP" altLang="en-US" sz="2400" b="1"/>
              <a:t>リリース版の作成と実行方法（</a:t>
            </a:r>
            <a:r>
              <a:rPr lang="en-US" altLang="ja-JP" sz="2400" b="1"/>
              <a:t>3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96FE62-3D63-4667-937F-2B3EE28EC6D9}"/>
              </a:ext>
            </a:extLst>
          </p:cNvPr>
          <p:cNvSpPr txBox="1"/>
          <p:nvPr/>
        </p:nvSpPr>
        <p:spPr>
          <a:xfrm>
            <a:off x="838200" y="1371600"/>
            <a:ext cx="6041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/>
              <a:t>Debug</a:t>
            </a:r>
            <a:r>
              <a:rPr kumimoji="1" lang="ja-JP" altLang="en-US" sz="2800" b="1"/>
              <a:t>版　と </a:t>
            </a:r>
            <a:r>
              <a:rPr kumimoji="1" lang="en-US" altLang="ja-JP" sz="2800" b="1"/>
              <a:t>Release</a:t>
            </a:r>
            <a:r>
              <a:rPr kumimoji="1" lang="ja-JP" altLang="en-US" sz="2800" b="1"/>
              <a:t>版の違い</a:t>
            </a:r>
          </a:p>
        </p:txBody>
      </p:sp>
      <p:sp>
        <p:nvSpPr>
          <p:cNvPr id="12" name="タイトル 1">
            <a:extLst>
              <a:ext uri="{FF2B5EF4-FFF2-40B4-BE49-F238E27FC236}">
                <a16:creationId xmlns:a16="http://schemas.microsoft.com/office/drawing/2014/main" id="{BA73DDE0-8918-4332-BD3F-2A5B15EB6F45}"/>
              </a:ext>
            </a:extLst>
          </p:cNvPr>
          <p:cNvSpPr txBox="1">
            <a:spLocks/>
          </p:cNvSpPr>
          <p:nvPr/>
        </p:nvSpPr>
        <p:spPr>
          <a:xfrm>
            <a:off x="838200" y="2183218"/>
            <a:ext cx="10515600" cy="4068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■</a:t>
            </a:r>
            <a:r>
              <a:rPr lang="en-US" altLang="ja-JP" sz="2400" b="1">
                <a:solidFill>
                  <a:schemeClr val="accent1">
                    <a:lumMod val="75000"/>
                  </a:schemeClr>
                </a:solidFill>
              </a:rPr>
              <a:t>Debug</a:t>
            </a:r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版</a:t>
            </a:r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　開発段階のデバッグ用のバージョンで、ステップ実行に必要な</a:t>
            </a:r>
            <a:r>
              <a:rPr lang="ja-JP" altLang="en-US" sz="2400" b="1">
                <a:solidFill>
                  <a:srgbClr val="FF0000"/>
                </a:solidFill>
              </a:rPr>
              <a:t>デバッグ情報が書き込まれている</a:t>
            </a:r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■</a:t>
            </a:r>
            <a:r>
              <a:rPr lang="en-US" altLang="ja-JP" sz="2400" b="1">
                <a:solidFill>
                  <a:schemeClr val="accent1">
                    <a:lumMod val="75000"/>
                  </a:schemeClr>
                </a:solidFill>
              </a:rPr>
              <a:t>Release</a:t>
            </a:r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版</a:t>
            </a:r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　開発・テストが終わって正式にリリースするバージョンで、デバッグ情報は書き込まれていない、実行に最適化されている。</a:t>
            </a:r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ja-JP" altLang="en-US" sz="2400" b="1">
                <a:solidFill>
                  <a:schemeClr val="accent1">
                    <a:lumMod val="75000"/>
                  </a:schemeClr>
                </a:solidFill>
              </a:rPr>
              <a:t>　（お客さんにリリースするときは、必ずリリース版を出荷すること。）</a:t>
            </a:r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ja-JP" sz="2400" b="1">
              <a:solidFill>
                <a:schemeClr val="accent1">
                  <a:lumMod val="75000"/>
                </a:schemeClr>
              </a:solidFill>
            </a:endParaRPr>
          </a:p>
          <a:p>
            <a:endParaRPr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1822954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6260326-94C3-49AD-B00D-E89B556EB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49" y="746051"/>
            <a:ext cx="8267700" cy="48768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3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1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B6A7EC6-1114-4826-AEEA-BD326EA03F80}"/>
              </a:ext>
            </a:extLst>
          </p:cNvPr>
          <p:cNvSpPr/>
          <p:nvPr/>
        </p:nvSpPr>
        <p:spPr>
          <a:xfrm>
            <a:off x="928577" y="2708052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BA4D012-34F5-4CED-8B65-BB2A18FF26CE}"/>
              </a:ext>
            </a:extLst>
          </p:cNvPr>
          <p:cNvSpPr/>
          <p:nvPr/>
        </p:nvSpPr>
        <p:spPr>
          <a:xfrm>
            <a:off x="4116130" y="746051"/>
            <a:ext cx="1359638" cy="3384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832A9BC-5D0A-46CD-BC2E-56D537BF7828}"/>
              </a:ext>
            </a:extLst>
          </p:cNvPr>
          <p:cNvSpPr/>
          <p:nvPr/>
        </p:nvSpPr>
        <p:spPr>
          <a:xfrm>
            <a:off x="5206409" y="3668526"/>
            <a:ext cx="3480391" cy="13606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153F340-1ED3-4970-9A29-E55C87643452}"/>
              </a:ext>
            </a:extLst>
          </p:cNvPr>
          <p:cNvCxnSpPr>
            <a:stCxn id="6" idx="3"/>
          </p:cNvCxnSpPr>
          <p:nvPr/>
        </p:nvCxnSpPr>
        <p:spPr>
          <a:xfrm flipV="1">
            <a:off x="2519916" y="846986"/>
            <a:ext cx="1596214" cy="198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7E70F7C-F924-4E54-82CA-D9A81437318A}"/>
              </a:ext>
            </a:extLst>
          </p:cNvPr>
          <p:cNvCxnSpPr>
            <a:stCxn id="9" idx="2"/>
          </p:cNvCxnSpPr>
          <p:nvPr/>
        </p:nvCxnSpPr>
        <p:spPr>
          <a:xfrm>
            <a:off x="4795949" y="1084521"/>
            <a:ext cx="410460" cy="1701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6076A6C-C777-4879-A233-85044DA4E248}"/>
              </a:ext>
            </a:extLst>
          </p:cNvPr>
          <p:cNvCxnSpPr/>
          <p:nvPr/>
        </p:nvCxnSpPr>
        <p:spPr>
          <a:xfrm>
            <a:off x="5858097" y="2955851"/>
            <a:ext cx="237903" cy="950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416FCA00-A4AE-4E56-AB40-43299FDE8C4F}"/>
              </a:ext>
            </a:extLst>
          </p:cNvPr>
          <p:cNvSpPr/>
          <p:nvPr/>
        </p:nvSpPr>
        <p:spPr>
          <a:xfrm>
            <a:off x="345170" y="3637885"/>
            <a:ext cx="4349492" cy="2373129"/>
          </a:xfrm>
          <a:prstGeom prst="wedgeRoundRectCallout">
            <a:avLst>
              <a:gd name="adj1" fmla="val 61517"/>
              <a:gd name="adj2" fmla="val -3281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 b="1">
                <a:solidFill>
                  <a:schemeClr val="accent1">
                    <a:lumMod val="75000"/>
                  </a:schemeClr>
                </a:solidFill>
              </a:rPr>
              <a:t>Program.cs </a:t>
            </a:r>
            <a:r>
              <a:rPr lang="en-US" altLang="ja-JP"/>
              <a:t># </a:t>
            </a:r>
            <a:r>
              <a:rPr lang="en-US" altLang="ja-JP" b="1">
                <a:solidFill>
                  <a:srgbClr val="FF0000"/>
                </a:solidFill>
              </a:rPr>
              <a:t>Main()</a:t>
            </a:r>
            <a:r>
              <a:rPr lang="ja-JP" altLang="en-US"/>
              <a:t>が</a:t>
            </a:r>
            <a:endParaRPr lang="en-US" altLang="ja-JP"/>
          </a:p>
          <a:p>
            <a:r>
              <a:rPr lang="en-US" altLang="ja-JP"/>
              <a:t>C#</a:t>
            </a:r>
            <a:r>
              <a:rPr lang="ja-JP" altLang="en-US"/>
              <a:t>アプリケーションの</a:t>
            </a:r>
            <a:r>
              <a:rPr lang="ja-JP" altLang="en-US" b="1">
                <a:solidFill>
                  <a:srgbClr val="FF0000"/>
                </a:solidFill>
              </a:rPr>
              <a:t>入り口</a:t>
            </a:r>
            <a:endParaRPr lang="en-US" altLang="ja-JP" b="1">
              <a:solidFill>
                <a:srgbClr val="FF0000"/>
              </a:solidFill>
            </a:endParaRPr>
          </a:p>
          <a:p>
            <a:endParaRPr lang="en-US" altLang="ja-JP" b="1">
              <a:solidFill>
                <a:srgbClr val="FF0000"/>
              </a:solidFill>
            </a:endParaRPr>
          </a:p>
          <a:p>
            <a:r>
              <a:rPr lang="en-US" altLang="ja-JP" b="1">
                <a:solidFill>
                  <a:srgbClr val="FF0000"/>
                </a:solidFill>
              </a:rPr>
              <a:t>※Program.cs</a:t>
            </a:r>
            <a:r>
              <a:rPr lang="ja-JP" altLang="en-US" b="1">
                <a:solidFill>
                  <a:srgbClr val="FF0000"/>
                </a:solidFill>
              </a:rPr>
              <a:t>は自動作成される。</a:t>
            </a:r>
            <a:endParaRPr lang="en-US" altLang="ja-JP" b="1">
              <a:solidFill>
                <a:srgbClr val="FF0000"/>
              </a:solidFill>
            </a:endParaRPr>
          </a:p>
          <a:p>
            <a:r>
              <a:rPr lang="ja-JP" altLang="en-US" b="1">
                <a:solidFill>
                  <a:srgbClr val="FF0000"/>
                </a:solidFill>
              </a:rPr>
              <a:t>基本的に修正する必要はない。</a:t>
            </a:r>
            <a:endParaRPr lang="en-US" altLang="ja-JP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156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5823D9-8C65-4B76-9940-AEE63D58B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142875"/>
            <a:ext cx="9172575" cy="671512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5693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2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</p:spTree>
    <p:extLst>
      <p:ext uri="{BB962C8B-B14F-4D97-AF65-F5344CB8AC3E}">
        <p14:creationId xmlns:p14="http://schemas.microsoft.com/office/powerpoint/2010/main" val="1364829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23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3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E2ECD2B-377A-44A1-9A41-69957E8F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6986"/>
            <a:ext cx="12192000" cy="5993954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61E88CB-330F-482F-8C6F-C9EE9FF9909B}"/>
              </a:ext>
            </a:extLst>
          </p:cNvPr>
          <p:cNvSpPr/>
          <p:nvPr/>
        </p:nvSpPr>
        <p:spPr>
          <a:xfrm>
            <a:off x="9505507" y="2403252"/>
            <a:ext cx="2307265" cy="2336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: 図形 4">
            <a:extLst>
              <a:ext uri="{FF2B5EF4-FFF2-40B4-BE49-F238E27FC236}">
                <a16:creationId xmlns:a16="http://schemas.microsoft.com/office/drawing/2014/main" id="{F716ABDC-EF40-40A5-A992-4F35803D5D7D}"/>
              </a:ext>
            </a:extLst>
          </p:cNvPr>
          <p:cNvSpPr/>
          <p:nvPr/>
        </p:nvSpPr>
        <p:spPr>
          <a:xfrm>
            <a:off x="6602819" y="2370956"/>
            <a:ext cx="3019646" cy="574263"/>
          </a:xfrm>
          <a:custGeom>
            <a:avLst/>
            <a:gdLst>
              <a:gd name="connsiteX0" fmla="*/ 3019646 w 3019646"/>
              <a:gd name="connsiteY0" fmla="*/ 170225 h 574263"/>
              <a:gd name="connsiteX1" fmla="*/ 2190307 w 3019646"/>
              <a:gd name="connsiteY1" fmla="*/ 104 h 574263"/>
              <a:gd name="connsiteX2" fmla="*/ 1031358 w 3019646"/>
              <a:gd name="connsiteY2" fmla="*/ 191491 h 574263"/>
              <a:gd name="connsiteX3" fmla="*/ 0 w 3019646"/>
              <a:gd name="connsiteY3" fmla="*/ 574263 h 57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9646" h="574263">
                <a:moveTo>
                  <a:pt x="3019646" y="170225"/>
                </a:moveTo>
                <a:cubicBezTo>
                  <a:pt x="2770667" y="83392"/>
                  <a:pt x="2521688" y="-3440"/>
                  <a:pt x="2190307" y="104"/>
                </a:cubicBezTo>
                <a:cubicBezTo>
                  <a:pt x="1858926" y="3648"/>
                  <a:pt x="1396409" y="95798"/>
                  <a:pt x="1031358" y="191491"/>
                </a:cubicBezTo>
                <a:cubicBezTo>
                  <a:pt x="666307" y="287184"/>
                  <a:pt x="333153" y="430723"/>
                  <a:pt x="0" y="574263"/>
                </a:cubicBezTo>
              </a:path>
            </a:pathLst>
          </a:custGeom>
          <a:ln w="38100">
            <a:prstDash val="sysDash"/>
            <a:tailEnd type="stealth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894EA37-0B9C-4461-BDA7-D2B48B3A7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76" y="4161549"/>
            <a:ext cx="4391025" cy="2619375"/>
          </a:xfrm>
          <a:prstGeom prst="rect">
            <a:avLst/>
          </a:prstGeom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158067CF-748A-4854-9482-EA06066AE97A}"/>
              </a:ext>
            </a:extLst>
          </p:cNvPr>
          <p:cNvSpPr/>
          <p:nvPr/>
        </p:nvSpPr>
        <p:spPr>
          <a:xfrm>
            <a:off x="5553776" y="3314216"/>
            <a:ext cx="5318710" cy="878924"/>
          </a:xfrm>
          <a:prstGeom prst="wedgeRoundRectCallout">
            <a:avLst>
              <a:gd name="adj1" fmla="val 272"/>
              <a:gd name="adj2" fmla="val -13217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１．</a:t>
            </a:r>
            <a:r>
              <a:rPr lang="en-US" altLang="ja-JP">
                <a:solidFill>
                  <a:schemeClr val="tx1"/>
                </a:solidFill>
              </a:rPr>
              <a:t>Button</a:t>
            </a:r>
            <a:r>
              <a:rPr lang="ja-JP" altLang="en-US">
                <a:solidFill>
                  <a:schemeClr val="tx1"/>
                </a:solidFill>
              </a:rPr>
              <a:t>を選択し、</a:t>
            </a:r>
            <a:endParaRPr lang="en-US" altLang="ja-JP">
              <a:solidFill>
                <a:schemeClr val="tx1"/>
              </a:solidFill>
            </a:endParaRPr>
          </a:p>
          <a:p>
            <a:r>
              <a:rPr lang="ja-JP" altLang="en-US">
                <a:solidFill>
                  <a:schemeClr val="tx1"/>
                </a:solidFill>
              </a:rPr>
              <a:t>画面へドラッグ</a:t>
            </a:r>
            <a:r>
              <a:rPr lang="en-US" altLang="ja-JP">
                <a:solidFill>
                  <a:schemeClr val="tx1"/>
                </a:solidFill>
              </a:rPr>
              <a:t>&amp;</a:t>
            </a:r>
            <a:r>
              <a:rPr lang="ja-JP" altLang="en-US">
                <a:solidFill>
                  <a:schemeClr val="tx1"/>
                </a:solidFill>
              </a:rPr>
              <a:t>ドロップ</a:t>
            </a:r>
            <a:r>
              <a:rPr lang="en-US" altLang="ja-JP">
                <a:solidFill>
                  <a:schemeClr val="tx1"/>
                </a:solidFill>
              </a:rPr>
              <a:t>(Drag and drop)</a:t>
            </a:r>
            <a:r>
              <a:rPr lang="ja-JP" altLang="en-US">
                <a:solidFill>
                  <a:schemeClr val="tx1"/>
                </a:solidFill>
              </a:rPr>
              <a:t>する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9D189D6A-13E3-464C-AF9B-38CFE7D64245}"/>
              </a:ext>
            </a:extLst>
          </p:cNvPr>
          <p:cNvSpPr/>
          <p:nvPr/>
        </p:nvSpPr>
        <p:spPr>
          <a:xfrm>
            <a:off x="5553776" y="4870482"/>
            <a:ext cx="5318710" cy="878924"/>
          </a:xfrm>
          <a:prstGeom prst="wedgeRoundRectCallout">
            <a:avLst>
              <a:gd name="adj1" fmla="val -94611"/>
              <a:gd name="adj2" fmla="val 5878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２．ボタンが生成される。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993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708763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4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66E22BB-0BC2-4F43-B23D-EA9D5FE0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44" y="624885"/>
            <a:ext cx="7096125" cy="6105525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68A8AC4-EEFC-45C0-BBD5-B83339AA74FF}"/>
              </a:ext>
            </a:extLst>
          </p:cNvPr>
          <p:cNvSpPr/>
          <p:nvPr/>
        </p:nvSpPr>
        <p:spPr>
          <a:xfrm>
            <a:off x="396949" y="1549104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00DD0FC-6481-4881-85F4-E341DFB1625D}"/>
              </a:ext>
            </a:extLst>
          </p:cNvPr>
          <p:cNvSpPr/>
          <p:nvPr/>
        </p:nvSpPr>
        <p:spPr>
          <a:xfrm>
            <a:off x="1375144" y="3493643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63B16F7-75A9-497A-B999-37F9EEDD0FF1}"/>
              </a:ext>
            </a:extLst>
          </p:cNvPr>
          <p:cNvSpPr/>
          <p:nvPr/>
        </p:nvSpPr>
        <p:spPr>
          <a:xfrm>
            <a:off x="4378842" y="5663903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5627C28-A278-4023-A15F-33C352A10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06" y="624885"/>
            <a:ext cx="8458200" cy="4219575"/>
          </a:xfrm>
          <a:prstGeom prst="rect">
            <a:avLst/>
          </a:prstGeom>
        </p:spPr>
      </p:pic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958747CA-2E74-48A4-A067-987D76756EF3}"/>
              </a:ext>
            </a:extLst>
          </p:cNvPr>
          <p:cNvSpPr/>
          <p:nvPr/>
        </p:nvSpPr>
        <p:spPr>
          <a:xfrm>
            <a:off x="166244" y="1938614"/>
            <a:ext cx="3548062" cy="782508"/>
          </a:xfrm>
          <a:prstGeom prst="wedgeRoundRectCallout">
            <a:avLst>
              <a:gd name="adj1" fmla="val 2070"/>
              <a:gd name="adj2" fmla="val -7374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１．プロジェクト名右クリック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5DCD6D9C-D0BC-4E25-8DC6-B72855970CE8}"/>
              </a:ext>
            </a:extLst>
          </p:cNvPr>
          <p:cNvSpPr/>
          <p:nvPr/>
        </p:nvSpPr>
        <p:spPr>
          <a:xfrm>
            <a:off x="459692" y="3943258"/>
            <a:ext cx="3254614" cy="469254"/>
          </a:xfrm>
          <a:prstGeom prst="wedgeRoundRectCallout">
            <a:avLst>
              <a:gd name="adj1" fmla="val 7297"/>
              <a:gd name="adj2" fmla="val -9413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2.</a:t>
            </a:r>
            <a:r>
              <a:rPr lang="ja-JP" altLang="en-US">
                <a:solidFill>
                  <a:schemeClr val="tx1"/>
                </a:solidFill>
              </a:rPr>
              <a:t> 「新規追加」をクリック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8017B8D6-8ABB-469E-A0D8-50A0F49094D8}"/>
              </a:ext>
            </a:extLst>
          </p:cNvPr>
          <p:cNvSpPr/>
          <p:nvPr/>
        </p:nvSpPr>
        <p:spPr>
          <a:xfrm>
            <a:off x="645236" y="5669793"/>
            <a:ext cx="3254614" cy="469254"/>
          </a:xfrm>
          <a:prstGeom prst="wedgeRoundRectCallout">
            <a:avLst>
              <a:gd name="adj1" fmla="val 63815"/>
              <a:gd name="adj2" fmla="val -28428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3. </a:t>
            </a:r>
            <a:r>
              <a:rPr lang="ja-JP" altLang="en-US">
                <a:solidFill>
                  <a:schemeClr val="tx1"/>
                </a:solidFill>
              </a:rPr>
              <a:t>「</a:t>
            </a:r>
            <a:r>
              <a:rPr lang="en-US" altLang="ja-JP">
                <a:solidFill>
                  <a:schemeClr val="tx1"/>
                </a:solidFill>
              </a:rPr>
              <a:t>Windows Form…</a:t>
            </a:r>
            <a:r>
              <a:rPr lang="ja-JP" altLang="en-US">
                <a:solidFill>
                  <a:schemeClr val="tx1"/>
                </a:solidFill>
              </a:rPr>
              <a:t>」</a:t>
            </a:r>
            <a:r>
              <a:rPr lang="en-US" altLang="ja-JP">
                <a:solidFill>
                  <a:schemeClr val="tx1"/>
                </a:solidFill>
              </a:rPr>
              <a:t>click</a:t>
            </a:r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83DBC7A9-B90B-4746-AB57-C8D46650E315}"/>
              </a:ext>
            </a:extLst>
          </p:cNvPr>
          <p:cNvSpPr/>
          <p:nvPr/>
        </p:nvSpPr>
        <p:spPr>
          <a:xfrm>
            <a:off x="6096000" y="4844460"/>
            <a:ext cx="3239386" cy="716368"/>
          </a:xfrm>
          <a:prstGeom prst="wedgeRoundRectCallout">
            <a:avLst>
              <a:gd name="adj1" fmla="val -55413"/>
              <a:gd name="adj2" fmla="val -11328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4. </a:t>
            </a:r>
            <a:r>
              <a:rPr lang="ja-JP" altLang="en-US">
                <a:solidFill>
                  <a:schemeClr val="tx1"/>
                </a:solidFill>
              </a:rPr>
              <a:t>作成したい新しい画面の</a:t>
            </a:r>
            <a:endParaRPr lang="en-US" altLang="ja-JP">
              <a:solidFill>
                <a:schemeClr val="tx1"/>
              </a:solidFill>
            </a:endParaRPr>
          </a:p>
          <a:p>
            <a:r>
              <a:rPr lang="ja-JP" altLang="en-US">
                <a:solidFill>
                  <a:schemeClr val="tx1"/>
                </a:solidFill>
              </a:rPr>
              <a:t>クラス名を入力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99AD8E42-C535-42BD-A479-BE92AACFB382}"/>
              </a:ext>
            </a:extLst>
          </p:cNvPr>
          <p:cNvSpPr/>
          <p:nvPr/>
        </p:nvSpPr>
        <p:spPr>
          <a:xfrm>
            <a:off x="7645861" y="5787435"/>
            <a:ext cx="3239386" cy="716368"/>
          </a:xfrm>
          <a:prstGeom prst="wedgeRoundRectCallout">
            <a:avLst>
              <a:gd name="adj1" fmla="val 43712"/>
              <a:gd name="adj2" fmla="val -20085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5. </a:t>
            </a:r>
            <a:r>
              <a:rPr lang="ja-JP" altLang="en-US">
                <a:solidFill>
                  <a:schemeClr val="tx1"/>
                </a:solidFill>
              </a:rPr>
              <a:t>「追加」をクリック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462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5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8B9BD1-69F2-4104-9C0E-A7ADAF11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363"/>
            <a:ext cx="12192000" cy="6330577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84C879A-538E-45A5-8BA9-AEE2401BA370}"/>
              </a:ext>
            </a:extLst>
          </p:cNvPr>
          <p:cNvSpPr/>
          <p:nvPr/>
        </p:nvSpPr>
        <p:spPr>
          <a:xfrm>
            <a:off x="306573" y="2378443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38D99B-AE85-457E-BE06-04E36AF08D53}"/>
              </a:ext>
            </a:extLst>
          </p:cNvPr>
          <p:cNvSpPr/>
          <p:nvPr/>
        </p:nvSpPr>
        <p:spPr>
          <a:xfrm>
            <a:off x="2794590" y="980704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1CC58F6-E96D-471B-9A42-401A7068DDEE}"/>
              </a:ext>
            </a:extLst>
          </p:cNvPr>
          <p:cNvCxnSpPr/>
          <p:nvPr/>
        </p:nvCxnSpPr>
        <p:spPr>
          <a:xfrm>
            <a:off x="3934047" y="1228503"/>
            <a:ext cx="116958" cy="419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2FB2312-7999-4F94-8321-A08A38BE854E}"/>
              </a:ext>
            </a:extLst>
          </p:cNvPr>
          <p:cNvCxnSpPr>
            <a:stCxn id="14" idx="3"/>
          </p:cNvCxnSpPr>
          <p:nvPr/>
        </p:nvCxnSpPr>
        <p:spPr>
          <a:xfrm flipV="1">
            <a:off x="1897912" y="1228503"/>
            <a:ext cx="896678" cy="127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D30CDE06-7086-429C-AB4A-2F671CBA2A05}"/>
              </a:ext>
            </a:extLst>
          </p:cNvPr>
          <p:cNvSpPr/>
          <p:nvPr/>
        </p:nvSpPr>
        <p:spPr>
          <a:xfrm>
            <a:off x="936717" y="4313456"/>
            <a:ext cx="4368930" cy="1778999"/>
          </a:xfrm>
          <a:prstGeom prst="wedgeRoundRectCallout">
            <a:avLst>
              <a:gd name="adj1" fmla="val 26855"/>
              <a:gd name="adj2" fmla="val -9091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新しい </a:t>
            </a:r>
            <a:r>
              <a:rPr lang="en-US" altLang="ja-JP">
                <a:solidFill>
                  <a:schemeClr val="tx1"/>
                </a:solidFill>
              </a:rPr>
              <a:t>HelloWorldForm</a:t>
            </a:r>
            <a:r>
              <a:rPr lang="ja-JP" altLang="en-US">
                <a:solidFill>
                  <a:schemeClr val="tx1"/>
                </a:solidFill>
              </a:rPr>
              <a:t>が生成される。</a:t>
            </a:r>
            <a:endParaRPr lang="en-US" altLang="ja-JP">
              <a:solidFill>
                <a:schemeClr val="tx1"/>
              </a:solidFill>
            </a:endParaRPr>
          </a:p>
          <a:p>
            <a:r>
              <a:rPr lang="ja-JP" altLang="en-US">
                <a:solidFill>
                  <a:schemeClr val="tx1"/>
                </a:solidFill>
              </a:rPr>
              <a:t>クラス名    </a:t>
            </a:r>
            <a:r>
              <a:rPr lang="en-US" altLang="ja-JP">
                <a:solidFill>
                  <a:schemeClr val="tx1"/>
                </a:solidFill>
              </a:rPr>
              <a:t>:</a:t>
            </a:r>
            <a:r>
              <a:rPr lang="ja-JP" altLang="en-US">
                <a:solidFill>
                  <a:schemeClr val="tx1"/>
                </a:solidFill>
              </a:rPr>
              <a:t> </a:t>
            </a:r>
            <a:r>
              <a:rPr lang="en-US" altLang="ja-JP">
                <a:solidFill>
                  <a:schemeClr val="tx1"/>
                </a:solidFill>
              </a:rPr>
              <a:t>HelloWorldForm</a:t>
            </a:r>
          </a:p>
          <a:p>
            <a:r>
              <a:rPr lang="ja-JP" altLang="en-US">
                <a:solidFill>
                  <a:schemeClr val="tx1"/>
                </a:solidFill>
              </a:rPr>
              <a:t>ファイル名</a:t>
            </a:r>
            <a:r>
              <a:rPr lang="en-US" altLang="ja-JP">
                <a:solidFill>
                  <a:schemeClr val="tx1"/>
                </a:solidFill>
              </a:rPr>
              <a:t>: HelloWorldForm.cs</a:t>
            </a:r>
          </a:p>
        </p:txBody>
      </p:sp>
    </p:spTree>
    <p:extLst>
      <p:ext uri="{BB962C8B-B14F-4D97-AF65-F5344CB8AC3E}">
        <p14:creationId xmlns:p14="http://schemas.microsoft.com/office/powerpoint/2010/main" val="1497633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6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81997D3-1CC2-447E-909C-42A50CB8A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7953"/>
            <a:ext cx="12192000" cy="6202987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58503D-8D43-4522-9E97-58C29ECC48CD}"/>
              </a:ext>
            </a:extLst>
          </p:cNvPr>
          <p:cNvSpPr/>
          <p:nvPr/>
        </p:nvSpPr>
        <p:spPr>
          <a:xfrm>
            <a:off x="9269820" y="1772387"/>
            <a:ext cx="1591339" cy="2477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A05381C-28E6-4368-977C-DB107C1E3EFA}"/>
              </a:ext>
            </a:extLst>
          </p:cNvPr>
          <p:cNvCxnSpPr>
            <a:stCxn id="10" idx="1"/>
          </p:cNvCxnSpPr>
          <p:nvPr/>
        </p:nvCxnSpPr>
        <p:spPr>
          <a:xfrm flipH="1">
            <a:off x="6953693" y="1896287"/>
            <a:ext cx="2316127" cy="772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8CBE95E7-1175-4476-8F59-6A1349FB525D}"/>
              </a:ext>
            </a:extLst>
          </p:cNvPr>
          <p:cNvSpPr/>
          <p:nvPr/>
        </p:nvSpPr>
        <p:spPr>
          <a:xfrm>
            <a:off x="3286511" y="3664870"/>
            <a:ext cx="3135554" cy="460563"/>
          </a:xfrm>
          <a:prstGeom prst="wedgeRoundRectCallout">
            <a:avLst>
              <a:gd name="adj1" fmla="val 45166"/>
              <a:gd name="adj2" fmla="val -20865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ボタンを１つ作成する。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955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7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9A7A5FA-DEEE-436C-965E-0D6DA949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30" y="862234"/>
            <a:ext cx="7772400" cy="477202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647380A-47E5-4508-8BC1-305E2F0DE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755" y="4633912"/>
            <a:ext cx="2657475" cy="1247775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87DC085-1191-4760-8B50-58B0BD23207F}"/>
              </a:ext>
            </a:extLst>
          </p:cNvPr>
          <p:cNvCxnSpPr/>
          <p:nvPr/>
        </p:nvCxnSpPr>
        <p:spPr>
          <a:xfrm>
            <a:off x="1711842" y="3083442"/>
            <a:ext cx="3359888" cy="1924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2C4BB54-83C5-46B9-89C1-328735203239}"/>
              </a:ext>
            </a:extLst>
          </p:cNvPr>
          <p:cNvCxnSpPr/>
          <p:nvPr/>
        </p:nvCxnSpPr>
        <p:spPr>
          <a:xfrm>
            <a:off x="7581014" y="5071730"/>
            <a:ext cx="1945758" cy="18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67B6B617-47C3-49D8-999A-52D5B1FF6DCF}"/>
              </a:ext>
            </a:extLst>
          </p:cNvPr>
          <p:cNvSpPr/>
          <p:nvPr/>
        </p:nvSpPr>
        <p:spPr>
          <a:xfrm>
            <a:off x="854538" y="5421663"/>
            <a:ext cx="4719416" cy="873754"/>
          </a:xfrm>
          <a:prstGeom prst="wedgeRoundRectCallout">
            <a:avLst>
              <a:gd name="adj1" fmla="val 41295"/>
              <a:gd name="adj2" fmla="val -8577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１．ボタンが選択された状態で、プロパーティの「</a:t>
            </a:r>
            <a:r>
              <a:rPr lang="en-US" altLang="ja-JP">
                <a:solidFill>
                  <a:schemeClr val="tx1"/>
                </a:solidFill>
              </a:rPr>
              <a:t>Text</a:t>
            </a:r>
            <a:r>
              <a:rPr lang="ja-JP" altLang="en-US">
                <a:solidFill>
                  <a:schemeClr val="tx1"/>
                </a:solidFill>
              </a:rPr>
              <a:t>」に「</a:t>
            </a:r>
            <a:r>
              <a:rPr lang="en-US" altLang="ja-JP">
                <a:solidFill>
                  <a:schemeClr val="tx1"/>
                </a:solidFill>
              </a:rPr>
              <a:t>show Message</a:t>
            </a:r>
            <a:r>
              <a:rPr lang="ja-JP" altLang="en-US">
                <a:solidFill>
                  <a:schemeClr val="tx1"/>
                </a:solidFill>
              </a:rPr>
              <a:t>」と入力し、</a:t>
            </a:r>
            <a:r>
              <a:rPr lang="en-US" altLang="ja-JP">
                <a:solidFill>
                  <a:schemeClr val="tx1"/>
                </a:solidFill>
              </a:rPr>
              <a:t>Enter</a:t>
            </a:r>
            <a:r>
              <a:rPr lang="ja-JP" altLang="en-US">
                <a:solidFill>
                  <a:schemeClr val="tx1"/>
                </a:solidFill>
              </a:rPr>
              <a:t>を押す。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90D9529B-EC48-4149-9277-B852AA460276}"/>
              </a:ext>
            </a:extLst>
          </p:cNvPr>
          <p:cNvSpPr/>
          <p:nvPr/>
        </p:nvSpPr>
        <p:spPr>
          <a:xfrm>
            <a:off x="7825562" y="2735170"/>
            <a:ext cx="4014125" cy="873754"/>
          </a:xfrm>
          <a:prstGeom prst="wedgeRoundRectCallout">
            <a:avLst>
              <a:gd name="adj1" fmla="val 9303"/>
              <a:gd name="adj2" fmla="val 21601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２．ボタンの表示文字が変わる。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188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8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6873B50-7AA8-4B7A-A1FE-FAAF300E7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66" y="854037"/>
            <a:ext cx="1647825" cy="79057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2400A8A-691F-411C-8841-740E0721F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66" y="2042447"/>
            <a:ext cx="5162550" cy="3857625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78E986B6-0FAF-47AD-87D6-8C65A5CA130D}"/>
              </a:ext>
            </a:extLst>
          </p:cNvPr>
          <p:cNvCxnSpPr>
            <a:stCxn id="4" idx="2"/>
          </p:cNvCxnSpPr>
          <p:nvPr/>
        </p:nvCxnSpPr>
        <p:spPr>
          <a:xfrm>
            <a:off x="1353879" y="1644612"/>
            <a:ext cx="1123507" cy="2959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78AB2CF-9D85-42D2-9A0A-2047E67397B8}"/>
              </a:ext>
            </a:extLst>
          </p:cNvPr>
          <p:cNvSpPr/>
          <p:nvPr/>
        </p:nvSpPr>
        <p:spPr>
          <a:xfrm>
            <a:off x="1681716" y="4603898"/>
            <a:ext cx="3294321" cy="7905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05E92952-ECF2-4D1E-8577-5FD6D2078CA7}"/>
              </a:ext>
            </a:extLst>
          </p:cNvPr>
          <p:cNvSpPr/>
          <p:nvPr/>
        </p:nvSpPr>
        <p:spPr>
          <a:xfrm>
            <a:off x="2968974" y="770858"/>
            <a:ext cx="4014125" cy="873754"/>
          </a:xfrm>
          <a:prstGeom prst="wedgeRoundRectCallout">
            <a:avLst>
              <a:gd name="adj1" fmla="val -76253"/>
              <a:gd name="adj2" fmla="val 1401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１．ボタンをダブルクリックする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9D1708FD-A820-4EB4-B9A2-0C0A092627F4}"/>
              </a:ext>
            </a:extLst>
          </p:cNvPr>
          <p:cNvSpPr/>
          <p:nvPr/>
        </p:nvSpPr>
        <p:spPr>
          <a:xfrm>
            <a:off x="4088937" y="3531227"/>
            <a:ext cx="4014125" cy="873754"/>
          </a:xfrm>
          <a:prstGeom prst="wedgeRoundRectCallout">
            <a:avLst>
              <a:gd name="adj1" fmla="val -71220"/>
              <a:gd name="adj2" fmla="val 6634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2. </a:t>
            </a:r>
            <a:r>
              <a:rPr lang="ja-JP" altLang="en-US">
                <a:solidFill>
                  <a:schemeClr val="tx1"/>
                </a:solidFill>
              </a:rPr>
              <a:t>該当</a:t>
            </a:r>
            <a:r>
              <a:rPr lang="ja-JP" altLang="en-US" b="1">
                <a:solidFill>
                  <a:schemeClr val="accent1">
                    <a:lumMod val="75000"/>
                  </a:schemeClr>
                </a:solidFill>
              </a:rPr>
              <a:t>ボタンのクリックイベント</a:t>
            </a:r>
            <a:r>
              <a:rPr lang="ja-JP" altLang="en-US">
                <a:solidFill>
                  <a:schemeClr val="tx1"/>
                </a:solidFill>
              </a:rPr>
              <a:t>の呼び出しメソッドが自動生成される。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B3E721DD-64E1-4561-A5AB-E59D1B30A6CF}"/>
              </a:ext>
            </a:extLst>
          </p:cNvPr>
          <p:cNvSpPr/>
          <p:nvPr/>
        </p:nvSpPr>
        <p:spPr>
          <a:xfrm>
            <a:off x="5692516" y="4688900"/>
            <a:ext cx="4014125" cy="873754"/>
          </a:xfrm>
          <a:prstGeom prst="wedgeRoundRectCallout">
            <a:avLst>
              <a:gd name="adj1" fmla="val -72015"/>
              <a:gd name="adj2" fmla="val -302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※</a:t>
            </a:r>
            <a:r>
              <a:rPr lang="ja-JP" altLang="en-US">
                <a:solidFill>
                  <a:schemeClr val="tx1"/>
                </a:solidFill>
              </a:rPr>
              <a:t>ボタンがクリックされた時の</a:t>
            </a:r>
            <a:endParaRPr lang="en-US" altLang="ja-JP">
              <a:solidFill>
                <a:schemeClr val="tx1"/>
              </a:solidFill>
            </a:endParaRPr>
          </a:p>
          <a:p>
            <a:r>
              <a:rPr lang="ja-JP" altLang="en-US">
                <a:solidFill>
                  <a:schemeClr val="tx1"/>
                </a:solidFill>
              </a:rPr>
              <a:t>処理をここに記述する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99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9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367CCE-F13F-468F-8437-20E4BD9D6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40" y="637953"/>
            <a:ext cx="9896475" cy="46767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BADFF28-E4D4-41B7-B6D1-578396676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358" y="5175544"/>
            <a:ext cx="5657850" cy="146685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A4C510F-D1A3-43B6-8FFE-8DC364ED453E}"/>
              </a:ext>
            </a:extLst>
          </p:cNvPr>
          <p:cNvSpPr/>
          <p:nvPr/>
        </p:nvSpPr>
        <p:spPr>
          <a:xfrm>
            <a:off x="1894367" y="2638425"/>
            <a:ext cx="8312889" cy="22950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8418F34-32DD-420B-8ED0-0C805D259186}"/>
              </a:ext>
            </a:extLst>
          </p:cNvPr>
          <p:cNvSpPr/>
          <p:nvPr/>
        </p:nvSpPr>
        <p:spPr>
          <a:xfrm>
            <a:off x="1894367" y="5730949"/>
            <a:ext cx="4967841" cy="31897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吹き出し: 角を丸めた四角形 13">
            <a:extLst>
              <a:ext uri="{FF2B5EF4-FFF2-40B4-BE49-F238E27FC236}">
                <a16:creationId xmlns:a16="http://schemas.microsoft.com/office/drawing/2014/main" id="{18E414CD-222B-4E3B-ACE8-3B92E576C51D}"/>
              </a:ext>
            </a:extLst>
          </p:cNvPr>
          <p:cNvSpPr/>
          <p:nvPr/>
        </p:nvSpPr>
        <p:spPr>
          <a:xfrm>
            <a:off x="5426702" y="1106395"/>
            <a:ext cx="4014125" cy="873754"/>
          </a:xfrm>
          <a:prstGeom prst="wedgeRoundRectCallout">
            <a:avLst>
              <a:gd name="adj1" fmla="val -42878"/>
              <a:gd name="adj2" fmla="val 12596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1. </a:t>
            </a:r>
            <a:r>
              <a:rPr lang="ja-JP" altLang="en-US">
                <a:solidFill>
                  <a:schemeClr val="tx1"/>
                </a:solidFill>
              </a:rPr>
              <a:t>こんな感じで</a:t>
            </a:r>
            <a:r>
              <a:rPr lang="en-US" altLang="ja-JP">
                <a:solidFill>
                  <a:schemeClr val="tx1"/>
                </a:solidFill>
              </a:rPr>
              <a:t>C#</a:t>
            </a:r>
            <a:r>
              <a:rPr lang="ja-JP" altLang="en-US">
                <a:solidFill>
                  <a:schemeClr val="tx1"/>
                </a:solidFill>
              </a:rPr>
              <a:t>プログラミングを楽しむ訳ですが</a:t>
            </a:r>
            <a:endParaRPr lang="en-US" altLang="ja-JP">
              <a:solidFill>
                <a:schemeClr val="tx1"/>
              </a:solidFill>
            </a:endParaRP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873D7EC8-AC4F-45B6-8BA7-C69072FC620E}"/>
              </a:ext>
            </a:extLst>
          </p:cNvPr>
          <p:cNvSpPr/>
          <p:nvPr/>
        </p:nvSpPr>
        <p:spPr>
          <a:xfrm>
            <a:off x="6973517" y="5104806"/>
            <a:ext cx="4465343" cy="945119"/>
          </a:xfrm>
          <a:prstGeom prst="wedgeRoundRectCallout">
            <a:avLst>
              <a:gd name="adj1" fmla="val -54003"/>
              <a:gd name="adj2" fmla="val 2861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ja-JP">
                <a:solidFill>
                  <a:schemeClr val="tx1"/>
                </a:solidFill>
              </a:rPr>
              <a:t>2. </a:t>
            </a:r>
            <a:r>
              <a:rPr lang="ja-JP" altLang="en-US">
                <a:solidFill>
                  <a:schemeClr val="tx1"/>
                </a:solidFill>
              </a:rPr>
              <a:t>今回は「</a:t>
            </a:r>
            <a:r>
              <a:rPr lang="en-US" altLang="ja-JP">
                <a:solidFill>
                  <a:schemeClr val="tx1"/>
                </a:solidFill>
              </a:rPr>
              <a:t>Hello, world!!</a:t>
            </a:r>
            <a:r>
              <a:rPr lang="ja-JP" altLang="en-US">
                <a:solidFill>
                  <a:schemeClr val="tx1"/>
                </a:solidFill>
              </a:rPr>
              <a:t>」と表示するメッセージボックスを表示しましょう。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056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10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7C8E8B0-7D72-43F3-A740-2789376C9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76" y="637953"/>
            <a:ext cx="8296275" cy="4124325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741097-7E89-4697-B5E0-C803D8C48A94}"/>
              </a:ext>
            </a:extLst>
          </p:cNvPr>
          <p:cNvSpPr/>
          <p:nvPr/>
        </p:nvSpPr>
        <p:spPr>
          <a:xfrm>
            <a:off x="753140" y="2381139"/>
            <a:ext cx="1469065" cy="2132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0F79D9D-C3B7-4228-9803-3D273A1A95E0}"/>
              </a:ext>
            </a:extLst>
          </p:cNvPr>
          <p:cNvSpPr/>
          <p:nvPr/>
        </p:nvSpPr>
        <p:spPr>
          <a:xfrm>
            <a:off x="4533013" y="3110023"/>
            <a:ext cx="3664689" cy="10260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0E9BA99C-7418-4BB5-8AD3-2F62350BFE2C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2222205" y="2487742"/>
            <a:ext cx="2310808" cy="1135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480C3CD9-D63B-4598-8BD1-81F332DB53D9}"/>
              </a:ext>
            </a:extLst>
          </p:cNvPr>
          <p:cNvSpPr/>
          <p:nvPr/>
        </p:nvSpPr>
        <p:spPr>
          <a:xfrm>
            <a:off x="1630657" y="4634447"/>
            <a:ext cx="5184813" cy="1745088"/>
          </a:xfrm>
          <a:prstGeom prst="wedgeRoundRectCallout">
            <a:avLst>
              <a:gd name="adj1" fmla="val 31162"/>
              <a:gd name="adj2" fmla="val -9054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solidFill>
                  <a:schemeClr val="tx1"/>
                </a:solidFill>
              </a:rPr>
              <a:t>最後は、メイン画面</a:t>
            </a:r>
            <a:r>
              <a:rPr lang="en-US" altLang="ja-JP">
                <a:solidFill>
                  <a:schemeClr val="tx1"/>
                </a:solidFill>
              </a:rPr>
              <a:t>(Form1</a:t>
            </a:r>
            <a:r>
              <a:rPr lang="ja-JP" altLang="en-US">
                <a:solidFill>
                  <a:schemeClr val="tx1"/>
                </a:solidFill>
              </a:rPr>
              <a:t>）のボタンを押すと、</a:t>
            </a:r>
            <a:r>
              <a:rPr lang="en-US" altLang="ja-JP">
                <a:solidFill>
                  <a:schemeClr val="tx1"/>
                </a:solidFill>
              </a:rPr>
              <a:t>HelloWorldForm</a:t>
            </a:r>
            <a:r>
              <a:rPr lang="ja-JP" altLang="en-US">
                <a:solidFill>
                  <a:schemeClr val="tx1"/>
                </a:solidFill>
              </a:rPr>
              <a:t>を開くソースを実装したら完了です。</a:t>
            </a:r>
            <a:endParaRPr lang="en-US" altLang="ja-JP">
              <a:solidFill>
                <a:schemeClr val="tx1"/>
              </a:solidFill>
            </a:endParaRPr>
          </a:p>
          <a:p>
            <a:endParaRPr lang="en-US" altLang="ja-JP">
              <a:solidFill>
                <a:schemeClr val="tx1"/>
              </a:solidFill>
            </a:endParaRPr>
          </a:p>
          <a:p>
            <a:r>
              <a:rPr lang="ja-JP" altLang="en-US">
                <a:solidFill>
                  <a:schemeClr val="tx1"/>
                </a:solidFill>
              </a:rPr>
              <a:t>コンパイルし、実行してみましょう！！</a:t>
            </a:r>
            <a:endParaRPr lang="en-US" altLang="ja-JP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2520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A0D6B-21FE-4DA7-87DB-9CDB6FCB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40" y="43712"/>
            <a:ext cx="10515600" cy="594241"/>
          </a:xfrm>
        </p:spPr>
        <p:txBody>
          <a:bodyPr>
            <a:normAutofit/>
          </a:bodyPr>
          <a:lstStyle/>
          <a:p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Hello, world! </a:t>
            </a:r>
            <a:r>
              <a:rPr kumimoji="1" lang="ja-JP" altLang="en-US" sz="2400" b="1">
                <a:solidFill>
                  <a:schemeClr val="accent1">
                    <a:lumMod val="75000"/>
                  </a:schemeClr>
                </a:solidFill>
              </a:rPr>
              <a:t>アプリ開発 </a:t>
            </a:r>
            <a:r>
              <a:rPr kumimoji="1" lang="en-US" altLang="ja-JP" sz="2400" b="1">
                <a:solidFill>
                  <a:schemeClr val="accent1">
                    <a:lumMod val="75000"/>
                  </a:schemeClr>
                </a:solidFill>
              </a:rPr>
              <a:t>– </a:t>
            </a:r>
            <a:r>
              <a:rPr kumimoji="1" lang="en-US" altLang="ja-JP" sz="2400" b="1"/>
              <a:t>4. </a:t>
            </a:r>
            <a:r>
              <a:rPr lang="ja-JP" altLang="en-US" sz="2400" b="1"/>
              <a:t>ソースの修正方法（</a:t>
            </a:r>
            <a:r>
              <a:rPr lang="en-US" altLang="ja-JP" sz="2400" b="1"/>
              <a:t>11</a:t>
            </a:r>
            <a:r>
              <a:rPr lang="ja-JP" altLang="en-US" sz="2400" b="1"/>
              <a:t>）</a:t>
            </a:r>
            <a:endParaRPr kumimoji="1" lang="ja-JP" altLang="en-US" sz="2400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F9432AE-DEE2-4B97-B812-D8AA7AAA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19" y="745609"/>
            <a:ext cx="8991600" cy="4686300"/>
          </a:xfrm>
          <a:prstGeom prst="rect">
            <a:avLst/>
          </a:prstGeom>
        </p:spPr>
      </p:pic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32892F6D-0225-475C-8386-EBFF8619C9CA}"/>
              </a:ext>
            </a:extLst>
          </p:cNvPr>
          <p:cNvCxnSpPr/>
          <p:nvPr/>
        </p:nvCxnSpPr>
        <p:spPr>
          <a:xfrm>
            <a:off x="4965405" y="2392326"/>
            <a:ext cx="202018" cy="308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809BA42A-8D40-4E3B-ABC8-9F61D407D69A}"/>
              </a:ext>
            </a:extLst>
          </p:cNvPr>
          <p:cNvCxnSpPr/>
          <p:nvPr/>
        </p:nvCxnSpPr>
        <p:spPr>
          <a:xfrm>
            <a:off x="7198242" y="4486940"/>
            <a:ext cx="5847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36B68CA5-E7D1-4A2F-8BF0-3F86BA75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85850"/>
            <a:ext cx="89916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07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DB087CF6-9215-47F6-9524-53AE5E15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1800520"/>
            <a:ext cx="10515600" cy="2760847"/>
          </a:xfrm>
        </p:spPr>
        <p:txBody>
          <a:bodyPr>
            <a:normAutofit/>
          </a:bodyPr>
          <a:lstStyle/>
          <a:p>
            <a:r>
              <a:rPr lang="ja-JP" altLang="en-US"/>
              <a:t>後は、</a:t>
            </a:r>
            <a:r>
              <a:rPr lang="en-US" altLang="ja-JP"/>
              <a:t>.Net Framework</a:t>
            </a:r>
            <a:r>
              <a:rPr lang="ja-JP" altLang="en-US"/>
              <a:t>のクラスを利用し、</a:t>
            </a:r>
            <a:br>
              <a:rPr lang="en-US" altLang="ja-JP"/>
            </a:br>
            <a:r>
              <a:rPr lang="ja-JP" altLang="en-US"/>
              <a:t>自分が実現したい機能を実装していけば</a:t>
            </a:r>
            <a:r>
              <a:rPr lang="en-US" altLang="ja-JP"/>
              <a:t>OK</a:t>
            </a:r>
            <a:r>
              <a:rPr lang="ja-JP" altLang="en-US"/>
              <a:t>です。</a:t>
            </a:r>
          </a:p>
        </p:txBody>
      </p:sp>
    </p:spTree>
    <p:extLst>
      <p:ext uri="{BB962C8B-B14F-4D97-AF65-F5344CB8AC3E}">
        <p14:creationId xmlns:p14="http://schemas.microsoft.com/office/powerpoint/2010/main" val="2021050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DB087CF6-9215-47F6-9524-53AE5E15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16" y="141841"/>
            <a:ext cx="10515600" cy="932047"/>
          </a:xfrm>
        </p:spPr>
        <p:txBody>
          <a:bodyPr>
            <a:normAutofit/>
          </a:bodyPr>
          <a:lstStyle/>
          <a:p>
            <a:r>
              <a:rPr lang="en-US" altLang="ja-JP"/>
              <a:t>【</a:t>
            </a:r>
            <a:r>
              <a:rPr lang="ja-JP" altLang="en-US"/>
              <a:t>参考資料</a:t>
            </a:r>
            <a:r>
              <a:rPr lang="en-US" altLang="ja-JP"/>
              <a:t>】</a:t>
            </a:r>
            <a:endParaRPr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EF876A-FEB1-4F49-8598-70657F345DC1}"/>
              </a:ext>
            </a:extLst>
          </p:cNvPr>
          <p:cNvSpPr txBox="1"/>
          <p:nvPr/>
        </p:nvSpPr>
        <p:spPr>
          <a:xfrm>
            <a:off x="531628" y="1201479"/>
            <a:ext cx="8095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.NET Framework </a:t>
            </a:r>
            <a:r>
              <a:rPr kumimoji="1" lang="ja-JP" altLang="en-US"/>
              <a:t>クラスライブラリ</a:t>
            </a:r>
            <a:endParaRPr kumimoji="1" lang="en-US" altLang="ja-JP"/>
          </a:p>
          <a:p>
            <a:r>
              <a:rPr lang="en-US" altLang="ja-JP"/>
              <a:t>  </a:t>
            </a:r>
            <a:r>
              <a:rPr lang="en-US" altLang="ja-JP">
                <a:hlinkClick r:id="rId2"/>
              </a:rPr>
              <a:t>https://docs.microsoft.com/ja-jp/previous-versions/gg145045(v=vs.110)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C2B7170-CD81-4488-9F87-11FCBB7EE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8" y="2059739"/>
            <a:ext cx="8095487" cy="455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49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DB087CF6-9215-47F6-9524-53AE5E15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16" y="141841"/>
            <a:ext cx="10515600" cy="932047"/>
          </a:xfrm>
        </p:spPr>
        <p:txBody>
          <a:bodyPr>
            <a:normAutofit/>
          </a:bodyPr>
          <a:lstStyle/>
          <a:p>
            <a:r>
              <a:rPr lang="en-US" altLang="ja-JP"/>
              <a:t>【C#</a:t>
            </a:r>
            <a:r>
              <a:rPr lang="ja-JP" altLang="en-US"/>
              <a:t>勉強サイト</a:t>
            </a:r>
            <a:r>
              <a:rPr lang="en-US" altLang="ja-JP"/>
              <a:t>】</a:t>
            </a:r>
            <a:endParaRPr lang="ja-JP" altLang="en-US"/>
          </a:p>
        </p:txBody>
      </p:sp>
      <p:pic>
        <p:nvPicPr>
          <p:cNvPr id="1028" name="Picture 4" descr="Logo">
            <a:hlinkClick r:id="rId2"/>
            <a:extLst>
              <a:ext uri="{FF2B5EF4-FFF2-40B4-BE49-F238E27FC236}">
                <a16:creationId xmlns:a16="http://schemas.microsoft.com/office/drawing/2014/main" id="{FB3511DE-BC60-4E49-ABE3-B3BAB8491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" y="1073888"/>
            <a:ext cx="857250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690775-1E6D-4936-997F-8020811F98BA}"/>
              </a:ext>
            </a:extLst>
          </p:cNvPr>
          <p:cNvSpPr txBox="1"/>
          <p:nvPr/>
        </p:nvSpPr>
        <p:spPr>
          <a:xfrm flipH="1">
            <a:off x="655320" y="2606040"/>
            <a:ext cx="1001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>
                <a:hlinkClick r:id="rId4"/>
              </a:rPr>
              <a:t>https://ufcpp.net/study/csharp/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987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1195</Words>
  <Application>Microsoft Office PowerPoint</Application>
  <PresentationFormat>ワイド画面</PresentationFormat>
  <Paragraphs>213</Paragraphs>
  <Slides>35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39" baseType="lpstr">
      <vt:lpstr>游ゴシック</vt:lpstr>
      <vt:lpstr>游ゴシック Light</vt:lpstr>
      <vt:lpstr>Arial</vt:lpstr>
      <vt:lpstr>Office テーマ</vt:lpstr>
      <vt:lpstr>C#講座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Visual Studio 2019 Community インストール方法（略）</vt:lpstr>
      <vt:lpstr>Hello, world! アプリ開発 – 1. ソリューションとプロジェクト作成(1)</vt:lpstr>
      <vt:lpstr>Hello, world! アプリ開発 – 1. ソリューションとプロジェクト作成(2)</vt:lpstr>
      <vt:lpstr>Hello, world! アプリ開発 – 1. ソリューションとプロジェクト作成(3)</vt:lpstr>
      <vt:lpstr>Hello, world! アプリ開発 – 1. ソリューションとプロジェクト作成(4)</vt:lpstr>
      <vt:lpstr>Hello, world! アプリ開発 – 2. デバッグ実行方法（１）</vt:lpstr>
      <vt:lpstr>Hello, world! アプリ開発 – 2. デバッグ実行方法（2）</vt:lpstr>
      <vt:lpstr>Hello, world! アプリ開発 – 2. デバッグ実行方法（3）</vt:lpstr>
      <vt:lpstr>Hello, world! アプリ開発 – 2. デバッグ実行方法（4）</vt:lpstr>
      <vt:lpstr>Hello, world! アプリ開発 – 2. デバッグ実行方法（5）</vt:lpstr>
      <vt:lpstr>Hello, world! アプリ開発 – 3. リリース版の作成と実行方法（1）</vt:lpstr>
      <vt:lpstr>Hello, world! アプリ開発 – 3. リリース版の作成と実行方法（2）</vt:lpstr>
      <vt:lpstr>Hello, world! アプリ開発 – 3. リリース版の作成と実行方法（3）</vt:lpstr>
      <vt:lpstr>Hello, world! アプリ開発 – 4. ソースの修正方法（1）</vt:lpstr>
      <vt:lpstr>Hello, world! アプリ開発 – 4. ソースの修正方法（2）</vt:lpstr>
      <vt:lpstr>Hello, world! アプリ開発 – 4. ソースの修正方法（3）</vt:lpstr>
      <vt:lpstr>Hello, world! アプリ開発 – 4. ソースの修正方法（4）</vt:lpstr>
      <vt:lpstr>Hello, world! アプリ開発 – 4. ソースの修正方法（5）</vt:lpstr>
      <vt:lpstr>Hello, world! アプリ開発 – 4. ソースの修正方法（6）</vt:lpstr>
      <vt:lpstr>Hello, world! アプリ開発 – 4. ソースの修正方法（7）</vt:lpstr>
      <vt:lpstr>Hello, world! アプリ開発 – 4. ソースの修正方法（8）</vt:lpstr>
      <vt:lpstr>Hello, world! アプリ開発 – 4. ソースの修正方法（9）</vt:lpstr>
      <vt:lpstr>Hello, world! アプリ開発 – 4. ソースの修正方法（10）</vt:lpstr>
      <vt:lpstr>Hello, world! アプリ開発 – 4. ソースの修正方法（11）</vt:lpstr>
      <vt:lpstr>後は、.Net Frameworkのクラスを利用し、 自分が実現したい機能を実装していけばOKです。</vt:lpstr>
      <vt:lpstr>【参考資料】</vt:lpstr>
      <vt:lpstr>【C#勉強サイト】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C#講座</dc:title>
  <dc:creator>jdr-torutori</dc:creator>
  <cp:lastModifiedBy>jdr-torutori</cp:lastModifiedBy>
  <cp:revision>99</cp:revision>
  <dcterms:created xsi:type="dcterms:W3CDTF">2019-08-02T13:47:37Z</dcterms:created>
  <dcterms:modified xsi:type="dcterms:W3CDTF">2019-08-02T19:10:15Z</dcterms:modified>
</cp:coreProperties>
</file>